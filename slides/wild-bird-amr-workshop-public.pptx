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01384"/>
            <a:ext cx="11155680" cy="0"/>
          </a:xfrm>
          <a:prstGeom prst="line">
            <a:avLst/>
          </a:prstGeom>
          <a:noFill/>
          <a:ln w="12700">
            <a:solidFill>
              <a:srgbClr val="D8DE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562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772"/>
                </a:solidFill>
              </a:rPr>
              <a:t>Hungary workshop | public-data edition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A7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A7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217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ED0C5"/>
                </a:solidFill>
              </a:rPr>
              <a:t>PUBLIC-DATA EDITION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078992"/>
            <a:ext cx="7132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</a:rPr>
              <a:t>From a Campylobacter genome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</a:rPr>
              <a:t>to an ecological story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713232" y="248716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E7E2"/>
                </a:solidFill>
              </a:rPr>
              <a:t>PubMLST • population structure • source attribution • wild-bird AMR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13232" y="315468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E8E3F2"/>
          </a:solidFill>
          <a:ln w="12700">
            <a:solidFill>
              <a:srgbClr val="E8E3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227832"/>
            <a:ext cx="1197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23768"/>
                </a:solidFill>
              </a:rPr>
              <a:t>120 minutes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76272" y="3154680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F5E8CC"/>
          </a:solidFill>
          <a:ln w="12700">
            <a:solidFill>
              <a:srgbClr val="F5E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0280" y="3227832"/>
            <a:ext cx="1014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8480E"/>
                </a:solidFill>
              </a:rPr>
              <a:t>hands-on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3154680"/>
            <a:ext cx="1783080" cy="310896"/>
          </a:xfrm>
          <a:prstGeom prst="roundRect">
            <a:avLst>
              <a:gd name="adj" fmla="val 23529"/>
            </a:avLst>
          </a:prstGeom>
          <a:solidFill>
            <a:srgbClr val="DDEEEA"/>
          </a:solidFill>
          <a:ln w="12700">
            <a:solidFill>
              <a:srgbClr val="DDE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38728" y="3227832"/>
            <a:ext cx="1655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5D56"/>
                </a:solidFill>
              </a:rPr>
              <a:t>public genomes only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" y="4096512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D0C5"/>
                </a:solidFill>
              </a:rPr>
              <a:t>Opening question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" y="4407408"/>
            <a:ext cx="74066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“You have four Campylobacter genomes.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How far can sequence take you toward saying where they came from?”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713232" y="59253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CFCA"/>
                </a:solidFill>
              </a:rPr>
              <a:t>Ben Pascoe | Hungary workshop | 2026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0" y="1005840"/>
            <a:ext cx="713232" cy="713232"/>
          </a:xfrm>
          <a:prstGeom prst="ellipse">
            <a:avLst/>
          </a:prstGeom>
          <a:solidFill>
            <a:srgbClr val="B97918">
              <a:alpha val="88000"/>
            </a:srgbClr>
          </a:solidFill>
          <a:ln w="12700">
            <a:solidFill>
              <a:srgbClr val="B9791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38360" y="1417320"/>
            <a:ext cx="713232" cy="713232"/>
          </a:xfrm>
          <a:prstGeom prst="ellipse">
            <a:avLst/>
          </a:prstGeom>
          <a:solidFill>
            <a:srgbClr val="0E766E">
              <a:alpha val="88000"/>
            </a:srgbClr>
          </a:solidFill>
          <a:ln w="12700">
            <a:solidFill>
              <a:srgbClr val="0E766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89920" y="914400"/>
            <a:ext cx="713232" cy="713232"/>
          </a:xfrm>
          <a:prstGeom prst="ellipse">
            <a:avLst/>
          </a:prstGeom>
          <a:solidFill>
            <a:srgbClr val="675B91">
              <a:alpha val="88000"/>
            </a:srgbClr>
          </a:solidFill>
          <a:ln w="12700">
            <a:solidFill>
              <a:srgbClr val="675B91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0" y="2377440"/>
            <a:ext cx="713232" cy="713232"/>
          </a:xfrm>
          <a:prstGeom prst="ellipse">
            <a:avLst/>
          </a:prstGeom>
          <a:solidFill>
            <a:srgbClr val="B24C48">
              <a:alpha val="88000"/>
            </a:srgbClr>
          </a:solidFill>
          <a:ln w="12700">
            <a:solidFill>
              <a:srgbClr val="B24C4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49840" y="2651760"/>
            <a:ext cx="713232" cy="713232"/>
          </a:xfrm>
          <a:prstGeom prst="ellipse">
            <a:avLst/>
          </a:prstGeom>
          <a:solidFill>
            <a:srgbClr val="386D8C">
              <a:alpha val="88000"/>
            </a:srgbClr>
          </a:solidFill>
          <a:ln w="12700">
            <a:solidFill>
              <a:srgbClr val="386D8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018520" y="2148840"/>
            <a:ext cx="713232" cy="713232"/>
          </a:xfrm>
          <a:prstGeom prst="ellipse">
            <a:avLst/>
          </a:prstGeom>
          <a:solidFill>
            <a:srgbClr val="4E7B57">
              <a:alpha val="88000"/>
            </a:srgbClr>
          </a:solidFill>
          <a:ln w="12700">
            <a:solidFill>
              <a:srgbClr val="4E7B57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A7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E766E"/>
                </a:solidFill>
              </a:rPr>
              <a:t>THE STORY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824"/>
                </a:solidFill>
              </a:rPr>
              <a:t>The session is one connected investigation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32688" y="1828800"/>
            <a:ext cx="658368" cy="658368"/>
          </a:xfrm>
          <a:prstGeom prst="ellipse">
            <a:avLst/>
          </a:prstGeom>
          <a:solidFill>
            <a:srgbClr val="0E766E">
              <a:alpha val="22000"/>
            </a:srgbClr>
          </a:solidFill>
          <a:ln w="19050">
            <a:solidFill>
              <a:srgbClr val="0E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00253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824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600200" y="2157984"/>
            <a:ext cx="676656" cy="0"/>
          </a:xfrm>
          <a:prstGeom prst="line">
            <a:avLst/>
          </a:prstGeom>
          <a:noFill/>
          <a:ln w="22860">
            <a:solidFill>
              <a:srgbClr val="AAB5B0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29768" y="2715768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824"/>
                </a:solidFill>
              </a:rPr>
              <a:t>What is it?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29768" y="3108960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60716C"/>
                </a:solidFill>
              </a:rPr>
              <a:t>MLST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2834640" y="1828800"/>
            <a:ext cx="658368" cy="658368"/>
          </a:xfrm>
          <a:prstGeom prst="ellipse">
            <a:avLst/>
          </a:prstGeom>
          <a:solidFill>
            <a:srgbClr val="386D8C">
              <a:alpha val="22000"/>
            </a:srgbClr>
          </a:solidFill>
          <a:ln w="19050">
            <a:solidFill>
              <a:srgbClr val="386D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200253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824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502152" y="2157984"/>
            <a:ext cx="676656" cy="0"/>
          </a:xfrm>
          <a:prstGeom prst="line">
            <a:avLst/>
          </a:prstGeom>
          <a:noFill/>
          <a:ln w="22860">
            <a:solidFill>
              <a:srgbClr val="AAB5B0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331720" y="2715768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824"/>
                </a:solidFill>
              </a:rPr>
              <a:t>What lineage?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331720" y="3108960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60716C"/>
                </a:solidFill>
              </a:rPr>
              <a:t>ST / CC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4736592" y="1828800"/>
            <a:ext cx="658368" cy="658368"/>
          </a:xfrm>
          <a:prstGeom prst="ellipse">
            <a:avLst/>
          </a:prstGeom>
          <a:solidFill>
            <a:srgbClr val="675B91">
              <a:alpha val="22000"/>
            </a:srgbClr>
          </a:solidFill>
          <a:ln w="19050">
            <a:solidFill>
              <a:srgbClr val="675B9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200253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824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04104" y="2157984"/>
            <a:ext cx="676656" cy="0"/>
          </a:xfrm>
          <a:prstGeom prst="line">
            <a:avLst/>
          </a:prstGeom>
          <a:noFill/>
          <a:ln w="22860">
            <a:solidFill>
              <a:srgbClr val="AAB5B0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233672" y="2715768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824"/>
                </a:solidFill>
              </a:rPr>
              <a:t>Related to what?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233672" y="3108960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60716C"/>
                </a:solidFill>
              </a:rPr>
              <a:t>cgMLST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638544" y="1828800"/>
            <a:ext cx="658368" cy="658368"/>
          </a:xfrm>
          <a:prstGeom prst="ellipse">
            <a:avLst/>
          </a:prstGeom>
          <a:solidFill>
            <a:srgbClr val="B97918">
              <a:alpha val="22000"/>
            </a:srgbClr>
          </a:solidFill>
          <a:ln w="19050">
            <a:solidFill>
              <a:srgbClr val="B979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38544" y="200253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824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306056" y="2157984"/>
            <a:ext cx="676656" cy="0"/>
          </a:xfrm>
          <a:prstGeom prst="line">
            <a:avLst/>
          </a:prstGeom>
          <a:noFill/>
          <a:ln w="22860">
            <a:solidFill>
              <a:srgbClr val="AAB5B0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6135624" y="2715768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824"/>
                </a:solidFill>
              </a:rPr>
              <a:t>What source?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135624" y="3108960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60716C"/>
                </a:solidFill>
              </a:rPr>
              <a:t>Attribution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8540496" y="1828800"/>
            <a:ext cx="658368" cy="658368"/>
          </a:xfrm>
          <a:prstGeom prst="ellipse">
            <a:avLst/>
          </a:prstGeom>
          <a:solidFill>
            <a:srgbClr val="B24C48">
              <a:alpha val="22000"/>
            </a:srgbClr>
          </a:solidFill>
          <a:ln w="19050">
            <a:solidFill>
              <a:srgbClr val="B24C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40496" y="200253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824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208008" y="2157984"/>
            <a:ext cx="676656" cy="0"/>
          </a:xfrm>
          <a:prstGeom prst="line">
            <a:avLst/>
          </a:prstGeom>
          <a:noFill/>
          <a:ln w="22860">
            <a:solidFill>
              <a:srgbClr val="AAB5B0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8037576" y="2715768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824"/>
                </a:solidFill>
              </a:rPr>
              <a:t>What AMR/ecology?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037576" y="3108960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60716C"/>
                </a:solidFill>
              </a:rPr>
              <a:t>Wild birds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10442448" y="1828800"/>
            <a:ext cx="658368" cy="658368"/>
          </a:xfrm>
          <a:prstGeom prst="ellipse">
            <a:avLst/>
          </a:prstGeom>
          <a:solidFill>
            <a:srgbClr val="4E7B57">
              <a:alpha val="22000"/>
            </a:srgbClr>
          </a:solidFill>
          <a:ln w="19050">
            <a:solidFill>
              <a:srgbClr val="4E7B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42448" y="200253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824"/>
                </a:solidFill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939528" y="2715768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824"/>
                </a:solidFill>
              </a:rPr>
              <a:t>How sure?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939528" y="3108960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60716C"/>
                </a:solidFill>
              </a:rPr>
              <a:t>Inference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1143000" y="4343400"/>
            <a:ext cx="9875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508760" y="4617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824"/>
                </a:solidFill>
              </a:rPr>
              <a:t>The aim is not to memorise tools.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303520" y="4544568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E766E"/>
                </a:solidFill>
              </a:rPr>
              <a:t>It is to match the strength of the claim to the strength of the genomic evidence.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A7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E766E"/>
                </a:solidFill>
              </a:rPr>
              <a:t>DESIGN CHOICE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824"/>
                </a:solidFill>
              </a:rPr>
              <a:t>Why switch to a fully public teaching dataset?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13232" y="1417320"/>
            <a:ext cx="3429000" cy="3063240"/>
          </a:xfrm>
          <a:prstGeom prst="roundRect">
            <a:avLst>
              <a:gd name="adj" fmla="val 1791"/>
            </a:avLst>
          </a:prstGeom>
          <a:solidFill>
            <a:srgbClr val="DDEEEA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417320"/>
            <a:ext cx="64008" cy="3063240"/>
          </a:xfrm>
          <a:prstGeom prst="rect">
            <a:avLst/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572768"/>
            <a:ext cx="3136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824"/>
                </a:solidFill>
              </a:rPr>
              <a:t>Safe to share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77824" y="1993392"/>
            <a:ext cx="311810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No unpublished project assemblies or sensitive metadata in the repository. Participants can keep the materials indefinitely.</a:t>
            </a:r>
            <a:endParaRPr lang="en-US" sz="1160" dirty="0"/>
          </a:p>
        </p:txBody>
      </p:sp>
      <p:sp>
        <p:nvSpPr>
          <p:cNvPr id="8" name="Shape 6"/>
          <p:cNvSpPr/>
          <p:nvPr/>
        </p:nvSpPr>
        <p:spPr>
          <a:xfrm>
            <a:off x="4370832" y="1417320"/>
            <a:ext cx="3429000" cy="3063240"/>
          </a:xfrm>
          <a:prstGeom prst="roundRect">
            <a:avLst>
              <a:gd name="adj" fmla="val 1791"/>
            </a:avLst>
          </a:prstGeom>
          <a:solidFill>
            <a:srgbClr val="DDEAF2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1417320"/>
            <a:ext cx="64008" cy="3063240"/>
          </a:xfrm>
          <a:prstGeom prst="rect">
            <a:avLst/>
          </a:prstGeom>
          <a:solidFill>
            <a:srgbClr val="386D8C"/>
          </a:solidFill>
          <a:ln w="12700">
            <a:solidFill>
              <a:srgbClr val="386D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1572768"/>
            <a:ext cx="3136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824"/>
                </a:solidFill>
              </a:rPr>
              <a:t>Reproducible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35424" y="1993392"/>
            <a:ext cx="311810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Mystery records are selected from an immutable published supplement using explicit rules — not by memory or manual cherry-picking.</a:t>
            </a:r>
            <a:endParaRPr lang="en-US" sz="1160" dirty="0"/>
          </a:p>
        </p:txBody>
      </p:sp>
      <p:sp>
        <p:nvSpPr>
          <p:cNvPr id="12" name="Shape 10"/>
          <p:cNvSpPr/>
          <p:nvPr/>
        </p:nvSpPr>
        <p:spPr>
          <a:xfrm>
            <a:off x="8028432" y="1417320"/>
            <a:ext cx="3429000" cy="3063240"/>
          </a:xfrm>
          <a:prstGeom prst="roundRect">
            <a:avLst>
              <a:gd name="adj" fmla="val 1791"/>
            </a:avLst>
          </a:prstGeom>
          <a:solidFill>
            <a:srgbClr val="E8E3F2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28432" y="1417320"/>
            <a:ext cx="64008" cy="3063240"/>
          </a:xfrm>
          <a:prstGeom prst="rect">
            <a:avLst/>
          </a:prstGeom>
          <a:solidFill>
            <a:srgbClr val="675B91"/>
          </a:solidFill>
          <a:ln w="12700">
            <a:solidFill>
              <a:srgbClr val="675B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93024" y="1572768"/>
            <a:ext cx="3136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824"/>
                </a:solidFill>
              </a:rPr>
              <a:t>Better pedagogy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93024" y="1993392"/>
            <a:ext cx="311810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We can deliberately contrast host specialists with a generalist that is genuinely difficult to source-attribute.</a:t>
            </a:r>
            <a:endParaRPr lang="en-US" sz="1160" dirty="0"/>
          </a:p>
        </p:txBody>
      </p:sp>
      <p:sp>
        <p:nvSpPr>
          <p:cNvPr id="16" name="Shape 14"/>
          <p:cNvSpPr/>
          <p:nvPr/>
        </p:nvSpPr>
        <p:spPr>
          <a:xfrm>
            <a:off x="1234440" y="4937760"/>
            <a:ext cx="9738360" cy="658368"/>
          </a:xfrm>
          <a:prstGeom prst="roundRect">
            <a:avLst>
              <a:gd name="adj" fmla="val 8333"/>
            </a:avLst>
          </a:prstGeom>
          <a:solidFill>
            <a:srgbClr val="F5E8CC"/>
          </a:solidFill>
          <a:ln w="12700">
            <a:solidFill>
              <a:srgbClr val="E2C68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08760" y="5138928"/>
            <a:ext cx="9189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2470F"/>
                </a:solidFill>
              </a:rPr>
              <a:t>Public data does not mean “static database”: pin the published S1 snapshot, then use live PubMLST for exploration.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3504" y="6254496"/>
            <a:ext cx="10561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i="1" dirty="0">
                <a:solidFill>
                  <a:srgbClr val="7A8581"/>
                </a:solidFill>
              </a:rPr>
              <a:t>Core teaching data: Arning et al., PLoS Genetics 2021, doi:10.1371/journal.pgen.1009436; S1 doi:10.1371/journal.pgen.1009436.s001.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A7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E766E"/>
                </a:solidFill>
              </a:rPr>
              <a:t>ARNING ET AL. 2021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824"/>
                </a:solidFill>
              </a:rPr>
              <a:t>Dataset 1 — a published source-attribution benchmark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66E"/>
                </a:solidFill>
              </a:rPr>
              <a:t>5,799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86537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824"/>
                </a:solidFill>
              </a:rPr>
              <a:t>public genomes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23160" y="129844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75B91"/>
                </a:solidFill>
              </a:rPr>
              <a:t>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423160" y="186537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824"/>
                </a:solidFill>
              </a:rPr>
              <a:t>source classes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0" y="129844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6D8C"/>
                </a:solidFill>
              </a:rPr>
              <a:t>1,343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931920" y="186537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824"/>
                </a:solidFill>
              </a:rPr>
              <a:t>cgMLST loci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15000" y="129844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97918"/>
                </a:solidFill>
              </a:rPr>
              <a:t>ST-wise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715000" y="186537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824"/>
                </a:solidFill>
              </a:rPr>
              <a:t>train/test split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907792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824"/>
                </a:solidFill>
              </a:rPr>
              <a:t>Chicken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965960" y="2926080"/>
            <a:ext cx="7772400" cy="237744"/>
          </a:xfrm>
          <a:prstGeom prst="roundRect">
            <a:avLst>
              <a:gd name="adj" fmla="val 11538"/>
            </a:avLst>
          </a:prstGeom>
          <a:solidFill>
            <a:srgbClr val="B97918"/>
          </a:solidFill>
          <a:ln w="12700">
            <a:solidFill>
              <a:srgbClr val="B979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48672" y="28986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97918"/>
                </a:solidFill>
              </a:rPr>
              <a:t>4,147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3438144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824"/>
                </a:solidFill>
              </a:rPr>
              <a:t>Cattle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965960" y="3456432"/>
            <a:ext cx="1341943" cy="237744"/>
          </a:xfrm>
          <a:prstGeom prst="roundRect">
            <a:avLst>
              <a:gd name="adj" fmla="val 11538"/>
            </a:avLst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48672" y="3429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766E"/>
                </a:solidFill>
              </a:rPr>
              <a:t>716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968496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824"/>
                </a:solidFill>
              </a:rPr>
              <a:t>Sheep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965960" y="3986784"/>
            <a:ext cx="1094546" cy="237744"/>
          </a:xfrm>
          <a:prstGeom prst="roundRect">
            <a:avLst>
              <a:gd name="adj" fmla="val 11538"/>
            </a:avLst>
          </a:prstGeom>
          <a:solidFill>
            <a:srgbClr val="4E7B57"/>
          </a:solidFill>
          <a:ln w="12700">
            <a:solidFill>
              <a:srgbClr val="4E7B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48672" y="39593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E7B57"/>
                </a:solidFill>
              </a:rPr>
              <a:t>584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4498848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824"/>
                </a:solidFill>
              </a:rPr>
              <a:t>Wild bird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965960" y="4517136"/>
            <a:ext cx="397335" cy="237744"/>
          </a:xfrm>
          <a:prstGeom prst="roundRect">
            <a:avLst>
              <a:gd name="adj" fmla="val 11538"/>
            </a:avLst>
          </a:prstGeom>
          <a:solidFill>
            <a:srgbClr val="675B91"/>
          </a:solidFill>
          <a:ln w="12700">
            <a:solidFill>
              <a:srgbClr val="675B9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48672" y="448970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75B91"/>
                </a:solidFill>
              </a:rPr>
              <a:t>212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5029200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824"/>
                </a:solidFill>
              </a:rPr>
              <a:t>Environment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965960" y="5047488"/>
            <a:ext cx="274320" cy="237744"/>
          </a:xfrm>
          <a:prstGeom prst="roundRect">
            <a:avLst>
              <a:gd name="adj" fmla="val 11538"/>
            </a:avLst>
          </a:prstGeom>
          <a:solidFill>
            <a:srgbClr val="386D8C"/>
          </a:solidFill>
          <a:ln w="12700">
            <a:solidFill>
              <a:srgbClr val="386D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48672" y="50200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86D8C"/>
                </a:solidFill>
              </a:rPr>
              <a:t>140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863840" y="139903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824"/>
                </a:solidFill>
              </a:rPr>
              <a:t>Crucial design detail: all members of an ST were assigned entirely to training or testing.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863840" y="2304288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0716C"/>
                </a:solidFill>
              </a:rPr>
              <a:t>That makes the test less vulnerable to lineage leakage than randomly splitting near-identical records.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03504" y="6254496"/>
            <a:ext cx="10561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i="1" dirty="0">
                <a:solidFill>
                  <a:srgbClr val="7A8581"/>
                </a:solidFill>
              </a:rPr>
              <a:t>Arning et al. 2021: chicken 4,147; cattle 716; sheep 584; wild bird 212; environment 140.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A7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E766E"/>
                </a:solidFill>
              </a:rPr>
              <a:t>MYSTERY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824"/>
                </a:solidFill>
              </a:rPr>
              <a:t>Four mysteries are selected for four different biological lessons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12648" y="1389888"/>
            <a:ext cx="2487168" cy="3794760"/>
          </a:xfrm>
          <a:prstGeom prst="roundRect">
            <a:avLst>
              <a:gd name="adj" fmla="val 2941"/>
            </a:avLst>
          </a:prstGeom>
          <a:solidFill>
            <a:srgbClr val="E8E3F2"/>
          </a:solidFill>
          <a:ln w="13970">
            <a:solidFill>
              <a:srgbClr val="675B9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35608" y="1673352"/>
            <a:ext cx="822960" cy="822960"/>
          </a:xfrm>
          <a:prstGeom prst="ellipse">
            <a:avLst/>
          </a:prstGeom>
          <a:solidFill>
            <a:srgbClr val="675B91"/>
          </a:solidFill>
          <a:ln w="12700">
            <a:solidFill>
              <a:srgbClr val="675B9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35608" y="1920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13816" y="277063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824"/>
                </a:solidFill>
              </a:rPr>
              <a:t>Wild-bird specialist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344728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75B91"/>
                </a:solidFill>
              </a:rPr>
              <a:t>Generalist index =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0716C"/>
                </a:solidFill>
              </a:rPr>
              <a:t>A clean host-associated signal.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47288" y="1389888"/>
            <a:ext cx="2487168" cy="3794760"/>
          </a:xfrm>
          <a:prstGeom prst="roundRect">
            <a:avLst>
              <a:gd name="adj" fmla="val 2941"/>
            </a:avLst>
          </a:prstGeom>
          <a:solidFill>
            <a:srgbClr val="F5E8CC"/>
          </a:solidFill>
          <a:ln w="13970">
            <a:solidFill>
              <a:srgbClr val="B979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70248" y="1673352"/>
            <a:ext cx="822960" cy="822960"/>
          </a:xfrm>
          <a:prstGeom prst="ellipse">
            <a:avLst/>
          </a:prstGeom>
          <a:solidFill>
            <a:srgbClr val="B97918"/>
          </a:solidFill>
          <a:ln w="12700">
            <a:solidFill>
              <a:srgbClr val="B979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70248" y="1920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48456" y="277063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824"/>
                </a:solidFill>
              </a:rPr>
              <a:t>Chicken specialist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75888" y="344728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97918"/>
                </a:solidFill>
              </a:rPr>
              <a:t>Generalist index = 1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703320" y="4069080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0716C"/>
                </a:solidFill>
              </a:rPr>
              <a:t>A clean poultry contrast.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81928" y="1389888"/>
            <a:ext cx="2487168" cy="3794760"/>
          </a:xfrm>
          <a:prstGeom prst="roundRect">
            <a:avLst>
              <a:gd name="adj" fmla="val 2941"/>
            </a:avLst>
          </a:prstGeom>
          <a:solidFill>
            <a:srgbClr val="E3EEDC"/>
          </a:solidFill>
          <a:ln w="13970">
            <a:solidFill>
              <a:srgbClr val="4E7B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04888" y="1673352"/>
            <a:ext cx="822960" cy="822960"/>
          </a:xfrm>
          <a:prstGeom prst="ellipse">
            <a:avLst/>
          </a:prstGeom>
          <a:solidFill>
            <a:srgbClr val="4E7B57"/>
          </a:solidFill>
          <a:ln w="12700">
            <a:solidFill>
              <a:srgbClr val="4E7B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04888" y="1920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83096" y="277063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824"/>
                </a:solidFill>
              </a:rPr>
              <a:t>Ruminant specialist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10528" y="344728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E7B57"/>
                </a:solidFill>
              </a:rPr>
              <a:t>Cattle or sheep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37960" y="4069080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0716C"/>
                </a:solidFill>
              </a:rPr>
              <a:t>Useful — but those gene pools overlap.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116568" y="1389888"/>
            <a:ext cx="2487168" cy="3794760"/>
          </a:xfrm>
          <a:prstGeom prst="roundRect">
            <a:avLst>
              <a:gd name="adj" fmla="val 2941"/>
            </a:avLst>
          </a:prstGeom>
          <a:solidFill>
            <a:srgbClr val="F2DDDB"/>
          </a:solidFill>
          <a:ln w="13970">
            <a:solidFill>
              <a:srgbClr val="B24C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39528" y="1673352"/>
            <a:ext cx="822960" cy="822960"/>
          </a:xfrm>
          <a:prstGeom prst="ellipse">
            <a:avLst/>
          </a:prstGeom>
          <a:solidFill>
            <a:srgbClr val="B24C48"/>
          </a:solidFill>
          <a:ln w="12700">
            <a:solidFill>
              <a:srgbClr val="B24C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39528" y="1920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317736" y="2770632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824"/>
                </a:solidFill>
              </a:rPr>
              <a:t>Ecological generalist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45168" y="344728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24C48"/>
                </a:solidFill>
              </a:rPr>
              <a:t>Prefer CC21 / CC45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372600" y="4069080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0716C"/>
                </a:solidFill>
              </a:rPr>
              <a:t>Prefer a published misclassification.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737360" y="550468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766E"/>
                </a:solidFill>
              </a:rPr>
              <a:t>Exact PubMLST IDs are generated from the pinned S1 table — the teaching logic stays fixed.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A7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E766E"/>
                </a:solidFill>
              </a:rPr>
              <a:t>PUBMLST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824"/>
                </a:solidFill>
              </a:rPr>
              <a:t>PubMLST is two linked resources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4754880" cy="3429000"/>
          </a:xfrm>
          <a:prstGeom prst="roundRect">
            <a:avLst>
              <a:gd name="adj" fmla="val 1600"/>
            </a:avLst>
          </a:prstGeom>
          <a:solidFill>
            <a:srgbClr val="DDEEEA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08760"/>
            <a:ext cx="64008" cy="3429000"/>
          </a:xfrm>
          <a:prstGeom prst="rect">
            <a:avLst/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664208"/>
            <a:ext cx="4462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824"/>
                </a:solidFill>
              </a:rPr>
              <a:t>1. Definitions / nomenclature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41832" y="2084832"/>
            <a:ext cx="444398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Allele definitions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MLST profiles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Sequence types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Clonal complexes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Defined cg/wgMLST schemes</a:t>
            </a:r>
            <a:endParaRPr lang="en-US" sz="1160" dirty="0"/>
          </a:p>
          <a:p>
            <a:pPr indent="0" marL="0">
              <a:buNone/>
            </a:pP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A shared language for bacterial variation.</a:t>
            </a:r>
            <a:endParaRPr lang="en-US" sz="1160" dirty="0"/>
          </a:p>
        </p:txBody>
      </p:sp>
      <p:sp>
        <p:nvSpPr>
          <p:cNvPr id="8" name="Shape 6"/>
          <p:cNvSpPr/>
          <p:nvPr/>
        </p:nvSpPr>
        <p:spPr>
          <a:xfrm>
            <a:off x="6629400" y="1508760"/>
            <a:ext cx="4754880" cy="3429000"/>
          </a:xfrm>
          <a:prstGeom prst="roundRect">
            <a:avLst>
              <a:gd name="adj" fmla="val 1600"/>
            </a:avLst>
          </a:prstGeom>
          <a:solidFill>
            <a:srgbClr val="E8E3F2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29400" y="1508760"/>
            <a:ext cx="64008" cy="3429000"/>
          </a:xfrm>
          <a:prstGeom prst="rect">
            <a:avLst/>
          </a:prstGeom>
          <a:solidFill>
            <a:srgbClr val="675B91"/>
          </a:solidFill>
          <a:ln w="12700">
            <a:solidFill>
              <a:srgbClr val="675B9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93992" y="1664208"/>
            <a:ext cx="4462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824"/>
                </a:solidFill>
              </a:rPr>
              <a:t>2. Isolates / genomes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93992" y="2084832"/>
            <a:ext cx="444398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Assemblies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Host/source metadata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Country and date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Study/project membership</a:t>
            </a: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Phenotype/provenance fields</a:t>
            </a:r>
            <a:endParaRPr lang="en-US" sz="1160" dirty="0"/>
          </a:p>
          <a:p>
            <a:pPr indent="0" marL="0">
              <a:buNone/>
            </a:pP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Context for those lineage names.</a:t>
            </a:r>
            <a:endParaRPr lang="en-US" sz="1160" dirty="0"/>
          </a:p>
        </p:txBody>
      </p:sp>
      <p:sp>
        <p:nvSpPr>
          <p:cNvPr id="12" name="Shape 10"/>
          <p:cNvSpPr/>
          <p:nvPr/>
        </p:nvSpPr>
        <p:spPr>
          <a:xfrm>
            <a:off x="5733288" y="2560320"/>
            <a:ext cx="621792" cy="1170432"/>
          </a:xfrm>
          <a:prstGeom prst="chevron">
            <a:avLst/>
          </a:prstGeom>
          <a:solidFill>
            <a:srgbClr val="B97918"/>
          </a:solidFill>
          <a:ln w="12700">
            <a:solidFill>
              <a:srgbClr val="B979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87568" y="29900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link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83080" y="53492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824"/>
                </a:solidFill>
              </a:rPr>
              <a:t>Definitions make typing portable; metadata makes typing epidemiologically useful.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03504" y="6254496"/>
            <a:ext cx="10561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i="1" dirty="0">
                <a:solidFill>
                  <a:srgbClr val="7A8581"/>
                </a:solidFill>
              </a:rPr>
              <a:t>PubMLST / BIGSdb: https://pubmlst.org/organisms/campylobacter-jejunicoli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A7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E766E"/>
                </a:solidFill>
              </a:rPr>
              <a:t>7-LOCUS MLST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824"/>
                </a:solidFill>
              </a:rPr>
              <a:t>MLST compresses a genome into a portable lineage name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914400" cy="566928"/>
          </a:xfrm>
          <a:prstGeom prst="roundRect">
            <a:avLst>
              <a:gd name="adj" fmla="val 6452"/>
            </a:avLst>
          </a:prstGeom>
          <a:solidFill>
            <a:srgbClr val="DDEEEA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9222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824"/>
                </a:solidFill>
              </a:rPr>
              <a:t>aspA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15568" y="2194560"/>
            <a:ext cx="0" cy="548640"/>
          </a:xfrm>
          <a:prstGeom prst="line">
            <a:avLst/>
          </a:prstGeom>
          <a:noFill/>
          <a:ln w="17780">
            <a:solidFill>
              <a:srgbClr val="AAB5B0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768096" y="283464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16C"/>
                </a:solidFill>
              </a:rPr>
              <a:t>allele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773936" y="1600200"/>
            <a:ext cx="914400" cy="566928"/>
          </a:xfrm>
          <a:prstGeom prst="roundRect">
            <a:avLst>
              <a:gd name="adj" fmla="val 6452"/>
            </a:avLst>
          </a:prstGeom>
          <a:solidFill>
            <a:srgbClr val="DDEAF2"/>
          </a:solidFill>
          <a:ln w="12700">
            <a:solidFill>
              <a:srgbClr val="386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47088" y="179222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824"/>
                </a:solidFill>
              </a:rPr>
              <a:t>glnA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31136" y="2194560"/>
            <a:ext cx="0" cy="548640"/>
          </a:xfrm>
          <a:prstGeom prst="line">
            <a:avLst/>
          </a:prstGeom>
          <a:noFill/>
          <a:ln w="17780">
            <a:solidFill>
              <a:srgbClr val="AAB5B0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883664" y="283464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16C"/>
                </a:solidFill>
              </a:rPr>
              <a:t>allele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889504" y="1600200"/>
            <a:ext cx="914400" cy="566928"/>
          </a:xfrm>
          <a:prstGeom prst="roundRect">
            <a:avLst>
              <a:gd name="adj" fmla="val 6452"/>
            </a:avLst>
          </a:prstGeom>
          <a:solidFill>
            <a:srgbClr val="DDEEEA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62656" y="179222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824"/>
                </a:solidFill>
              </a:rPr>
              <a:t>gltA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46704" y="2194560"/>
            <a:ext cx="0" cy="548640"/>
          </a:xfrm>
          <a:prstGeom prst="line">
            <a:avLst/>
          </a:prstGeom>
          <a:noFill/>
          <a:ln w="17780">
            <a:solidFill>
              <a:srgbClr val="AAB5B0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999232" y="283464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16C"/>
                </a:solidFill>
              </a:rPr>
              <a:t>allele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005072" y="1600200"/>
            <a:ext cx="914400" cy="566928"/>
          </a:xfrm>
          <a:prstGeom prst="roundRect">
            <a:avLst>
              <a:gd name="adj" fmla="val 6452"/>
            </a:avLst>
          </a:prstGeom>
          <a:solidFill>
            <a:srgbClr val="DDEAF2"/>
          </a:solidFill>
          <a:ln w="12700">
            <a:solidFill>
              <a:srgbClr val="386D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78224" y="179222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824"/>
                </a:solidFill>
              </a:rPr>
              <a:t>glyA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62272" y="2194560"/>
            <a:ext cx="0" cy="548640"/>
          </a:xfrm>
          <a:prstGeom prst="line">
            <a:avLst/>
          </a:prstGeom>
          <a:noFill/>
          <a:ln w="17780">
            <a:solidFill>
              <a:srgbClr val="AAB5B0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114800" y="283464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16C"/>
                </a:solidFill>
              </a:rPr>
              <a:t>allele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120640" y="1600200"/>
            <a:ext cx="914400" cy="566928"/>
          </a:xfrm>
          <a:prstGeom prst="roundRect">
            <a:avLst>
              <a:gd name="adj" fmla="val 6452"/>
            </a:avLst>
          </a:prstGeom>
          <a:solidFill>
            <a:srgbClr val="DDEEEA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93792" y="179222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824"/>
                </a:solidFill>
              </a:rPr>
              <a:t>pgm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77840" y="2194560"/>
            <a:ext cx="0" cy="548640"/>
          </a:xfrm>
          <a:prstGeom prst="line">
            <a:avLst/>
          </a:prstGeom>
          <a:noFill/>
          <a:ln w="17780">
            <a:solidFill>
              <a:srgbClr val="AAB5B0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230368" y="283464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16C"/>
                </a:solidFill>
              </a:rPr>
              <a:t>allele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36208" y="1600200"/>
            <a:ext cx="914400" cy="566928"/>
          </a:xfrm>
          <a:prstGeom prst="roundRect">
            <a:avLst>
              <a:gd name="adj" fmla="val 6452"/>
            </a:avLst>
          </a:prstGeom>
          <a:solidFill>
            <a:srgbClr val="DDEAF2"/>
          </a:solidFill>
          <a:ln w="12700">
            <a:solidFill>
              <a:srgbClr val="386D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179222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824"/>
                </a:solidFill>
              </a:rPr>
              <a:t>tkt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93408" y="2194560"/>
            <a:ext cx="0" cy="548640"/>
          </a:xfrm>
          <a:prstGeom prst="line">
            <a:avLst/>
          </a:prstGeom>
          <a:noFill/>
          <a:ln w="17780">
            <a:solidFill>
              <a:srgbClr val="AAB5B0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6345936" y="283464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16C"/>
                </a:solidFill>
              </a:rPr>
              <a:t>allele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51776" y="1600200"/>
            <a:ext cx="914400" cy="566928"/>
          </a:xfrm>
          <a:prstGeom prst="roundRect">
            <a:avLst>
              <a:gd name="adj" fmla="val 6452"/>
            </a:avLst>
          </a:prstGeom>
          <a:solidFill>
            <a:srgbClr val="DDEEEA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24928" y="179222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824"/>
                </a:solidFill>
              </a:rPr>
              <a:t>uncA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808976" y="2194560"/>
            <a:ext cx="0" cy="548640"/>
          </a:xfrm>
          <a:prstGeom prst="line">
            <a:avLst/>
          </a:prstGeom>
          <a:noFill/>
          <a:ln w="17780">
            <a:solidFill>
              <a:srgbClr val="AAB5B0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7461504" y="283464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16C"/>
                </a:solidFill>
              </a:rPr>
              <a:t>allele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051560" y="3429000"/>
            <a:ext cx="7223760" cy="0"/>
          </a:xfrm>
          <a:prstGeom prst="line">
            <a:avLst/>
          </a:prstGeom>
          <a:noFill/>
          <a:ln w="25400">
            <a:solidFill>
              <a:srgbClr val="93A09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549640" y="2990088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F5E8CC"/>
          </a:solidFill>
          <a:ln w="15240">
            <a:solidFill>
              <a:srgbClr val="B9791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32520" y="322783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7918"/>
                </a:solidFill>
              </a:rPr>
              <a:t>ST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9829800" y="3429000"/>
            <a:ext cx="566928" cy="0"/>
          </a:xfrm>
          <a:prstGeom prst="line">
            <a:avLst/>
          </a:prstGeom>
          <a:noFill/>
          <a:ln w="25400">
            <a:solidFill>
              <a:srgbClr val="93A09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488168" y="2990088"/>
            <a:ext cx="1143000" cy="868680"/>
          </a:xfrm>
          <a:prstGeom prst="roundRect">
            <a:avLst>
              <a:gd name="adj" fmla="val 6316"/>
            </a:avLst>
          </a:prstGeom>
          <a:solidFill>
            <a:srgbClr val="E8E3F2"/>
          </a:solidFill>
          <a:ln w="15240">
            <a:solidFill>
              <a:srgbClr val="675B9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634472" y="3227832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75B91"/>
                </a:solidFill>
              </a:rPr>
              <a:t>CC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1325880" y="4681728"/>
            <a:ext cx="9601200" cy="713232"/>
          </a:xfrm>
          <a:prstGeom prst="roundRect">
            <a:avLst>
              <a:gd name="adj" fmla="val 7692"/>
            </a:avLst>
          </a:prstGeom>
          <a:solidFill>
            <a:srgbClr val="F2DDDB"/>
          </a:solidFill>
          <a:ln w="12700">
            <a:solidFill>
              <a:srgbClr val="E2BB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18488" y="4919472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F3733"/>
                </a:solidFill>
              </a:rPr>
              <a:t>Seven loci are a name — not the whole genome. Same ST does not equal direct transmission.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A7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E766E"/>
                </a:solidFill>
              </a:rPr>
              <a:t>25–45 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824"/>
                </a:solidFill>
              </a:rPr>
              <a:t>Practical 1 — type A–D from whole-genome FASTA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337560" cy="3520440"/>
          </a:xfrm>
          <a:prstGeom prst="roundRect">
            <a:avLst>
              <a:gd name="adj" fmla="val 1644"/>
            </a:avLst>
          </a:prstGeom>
          <a:solidFill>
            <a:srgbClr val="DDEEEA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64008" cy="3520440"/>
          </a:xfrm>
          <a:prstGeom prst="rect">
            <a:avLst/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572768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824"/>
                </a:solidFill>
              </a:rPr>
              <a:t>1. Sequence query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1993392"/>
            <a:ext cx="302666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Upload `mystery_A.fasta`.</a:t>
            </a:r>
            <a:endParaRPr lang="en-US" sz="1160" dirty="0"/>
          </a:p>
          <a:p>
            <a:pPr indent="0" marL="0">
              <a:buNone/>
            </a:pP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Choose the C. jejuni/C. coli MLST scheme.</a:t>
            </a:r>
            <a:endParaRPr lang="en-US" sz="1160" dirty="0"/>
          </a:p>
          <a:p>
            <a:pPr indent="0" marL="0">
              <a:buNone/>
            </a:pP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Record seven alleles, ST and CC.</a:t>
            </a:r>
            <a:endParaRPr lang="en-US" sz="1160" dirty="0"/>
          </a:p>
        </p:txBody>
      </p:sp>
      <p:sp>
        <p:nvSpPr>
          <p:cNvPr id="8" name="Shape 6"/>
          <p:cNvSpPr/>
          <p:nvPr/>
        </p:nvSpPr>
        <p:spPr>
          <a:xfrm>
            <a:off x="4407408" y="1417320"/>
            <a:ext cx="3337560" cy="3520440"/>
          </a:xfrm>
          <a:prstGeom prst="roundRect">
            <a:avLst>
              <a:gd name="adj" fmla="val 1644"/>
            </a:avLst>
          </a:prstGeom>
          <a:solidFill>
            <a:srgbClr val="DDEAF2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07408" y="1417320"/>
            <a:ext cx="64008" cy="3520440"/>
          </a:xfrm>
          <a:prstGeom prst="rect">
            <a:avLst/>
          </a:prstGeom>
          <a:solidFill>
            <a:srgbClr val="386D8C"/>
          </a:solidFill>
          <a:ln w="12700">
            <a:solidFill>
              <a:srgbClr val="386D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572768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824"/>
                </a:solidFill>
              </a:rPr>
              <a:t>2. Repeat B–D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1993392"/>
            <a:ext cx="302666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Work in pairs if the network is limited.</a:t>
            </a:r>
            <a:endParaRPr lang="en-US" sz="1160" dirty="0"/>
          </a:p>
          <a:p>
            <a:pPr indent="0" marL="0">
              <a:buNone/>
            </a:pP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Compare results rather than everyone waiting for the same page.</a:t>
            </a:r>
            <a:endParaRPr lang="en-US" sz="1160" dirty="0"/>
          </a:p>
        </p:txBody>
      </p:sp>
      <p:sp>
        <p:nvSpPr>
          <p:cNvPr id="12" name="Shape 10"/>
          <p:cNvSpPr/>
          <p:nvPr/>
        </p:nvSpPr>
        <p:spPr>
          <a:xfrm>
            <a:off x="8083296" y="1417320"/>
            <a:ext cx="3337560" cy="3520440"/>
          </a:xfrm>
          <a:prstGeom prst="roundRect">
            <a:avLst>
              <a:gd name="adj" fmla="val 1644"/>
            </a:avLst>
          </a:prstGeom>
          <a:solidFill>
            <a:srgbClr val="F5E8CC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83296" y="1417320"/>
            <a:ext cx="64008" cy="3520440"/>
          </a:xfrm>
          <a:prstGeom prst="rect">
            <a:avLst/>
          </a:prstGeom>
          <a:solidFill>
            <a:srgbClr val="B97918"/>
          </a:solidFill>
          <a:ln w="12700">
            <a:solidFill>
              <a:srgbClr val="B979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7888" y="1572768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824"/>
                </a:solidFill>
              </a:rPr>
              <a:t>3. Predict early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47888" y="1993392"/>
            <a:ext cx="302666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Before source metadata: which lineage *sounds* most source-specific?</a:t>
            </a:r>
            <a:endParaRPr lang="en-US" sz="1160" dirty="0"/>
          </a:p>
          <a:p>
            <a:pPr indent="0" marL="0">
              <a:buNone/>
            </a:pP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Write a confidence level.</a:t>
            </a:r>
            <a:endParaRPr lang="en-US" sz="1160" dirty="0"/>
          </a:p>
        </p:txBody>
      </p:sp>
      <p:sp>
        <p:nvSpPr>
          <p:cNvPr id="16" name="Text 14"/>
          <p:cNvSpPr/>
          <p:nvPr/>
        </p:nvSpPr>
        <p:spPr>
          <a:xfrm>
            <a:off x="2514600" y="541324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24C48"/>
                </a:solidFill>
              </a:rPr>
              <a:t>Do not reveal the original source labels yet.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A7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E766E"/>
                </a:solidFill>
              </a:rPr>
              <a:t>METADATA CONTEXT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824"/>
                </a:solidFill>
              </a:rPr>
              <a:t>The isolate collection turns a lineage name into an ecological hypothesis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874520" cy="658368"/>
          </a:xfrm>
          <a:prstGeom prst="roundRect">
            <a:avLst>
              <a:gd name="adj" fmla="val 6944"/>
            </a:avLst>
          </a:prstGeom>
          <a:solidFill>
            <a:srgbClr val="B97918">
              <a:alpha val="22000"/>
            </a:srgbClr>
          </a:solidFill>
          <a:ln w="15240">
            <a:solidFill>
              <a:srgbClr val="B979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819656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824"/>
                </a:solidFill>
              </a:rPr>
              <a:t>Chicken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852928" y="1600200"/>
            <a:ext cx="1874520" cy="658368"/>
          </a:xfrm>
          <a:prstGeom prst="roundRect">
            <a:avLst>
              <a:gd name="adj" fmla="val 6944"/>
            </a:avLst>
          </a:prstGeom>
          <a:solidFill>
            <a:srgbClr val="0E766E">
              <a:alpha val="22000"/>
            </a:srgbClr>
          </a:solidFill>
          <a:ln w="15240">
            <a:solidFill>
              <a:srgbClr val="0E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80944" y="1819656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824"/>
                </a:solidFill>
              </a:rPr>
              <a:t>Cattle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65776" y="1600200"/>
            <a:ext cx="1874520" cy="658368"/>
          </a:xfrm>
          <a:prstGeom prst="roundRect">
            <a:avLst>
              <a:gd name="adj" fmla="val 6944"/>
            </a:avLst>
          </a:prstGeom>
          <a:solidFill>
            <a:srgbClr val="4E7B57">
              <a:alpha val="22000"/>
            </a:srgbClr>
          </a:solidFill>
          <a:ln w="15240">
            <a:solidFill>
              <a:srgbClr val="4E7B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3792" y="1819656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824"/>
                </a:solidFill>
              </a:rPr>
              <a:t>Sheep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278624" y="1600200"/>
            <a:ext cx="1874520" cy="658368"/>
          </a:xfrm>
          <a:prstGeom prst="roundRect">
            <a:avLst>
              <a:gd name="adj" fmla="val 6944"/>
            </a:avLst>
          </a:prstGeom>
          <a:solidFill>
            <a:srgbClr val="675B91">
              <a:alpha val="22000"/>
            </a:srgbClr>
          </a:solidFill>
          <a:ln w="15240">
            <a:solidFill>
              <a:srgbClr val="675B9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0" y="1819656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824"/>
                </a:solidFill>
              </a:rPr>
              <a:t>Wild bird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491472" y="1600200"/>
            <a:ext cx="1874520" cy="658368"/>
          </a:xfrm>
          <a:prstGeom prst="roundRect">
            <a:avLst>
              <a:gd name="adj" fmla="val 6944"/>
            </a:avLst>
          </a:prstGeom>
          <a:solidFill>
            <a:srgbClr val="386D8C">
              <a:alpha val="22000"/>
            </a:srgbClr>
          </a:solidFill>
          <a:ln w="15240">
            <a:solidFill>
              <a:srgbClr val="386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19488" y="1819656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824"/>
                </a:solidFill>
              </a:rPr>
              <a:t>Environment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824"/>
                </a:solidFill>
              </a:rPr>
              <a:t>For each ST/CC ask: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" y="3246120"/>
            <a:ext cx="4983480" cy="1874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72824"/>
                </a:solidFill>
              </a:rPr>
              <a:t>Is one source overwhelmingly represented?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72824"/>
                </a:solidFill>
              </a:rPr>
              <a:t>Are several host groups represented?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72824"/>
                </a:solidFill>
              </a:rPr>
              <a:t>Is the lineage geographically broad?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72824"/>
                </a:solidFill>
              </a:rPr>
              <a:t>Could study/submission bias explain the pattern?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92240" y="2834640"/>
            <a:ext cx="4800600" cy="2331720"/>
          </a:xfrm>
          <a:prstGeom prst="roundRect">
            <a:avLst>
              <a:gd name="adj" fmla="val 2353"/>
            </a:avLst>
          </a:prstGeom>
          <a:solidFill>
            <a:srgbClr val="F2DDDB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2834640"/>
            <a:ext cx="64008" cy="2331720"/>
          </a:xfrm>
          <a:prstGeom prst="rect">
            <a:avLst/>
          </a:prstGeom>
          <a:solidFill>
            <a:srgbClr val="B24C48"/>
          </a:solidFill>
          <a:ln w="12700">
            <a:solidFill>
              <a:srgbClr val="B24C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56832" y="2990088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824"/>
                </a:solidFill>
              </a:rPr>
              <a:t>Sampling caveat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56832" y="3410712"/>
            <a:ext cx="44897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PubMLST is a curated collection of studies and submissions — not a random ecological survey.</a:t>
            </a:r>
            <a:endParaRPr lang="en-US" sz="1160" dirty="0"/>
          </a:p>
          <a:p>
            <a:pPr indent="0" marL="0">
              <a:buNone/>
            </a:pP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Use it to generate and contextualise hypotheses, not to treat raw source counts as prevalence.</a:t>
            </a:r>
            <a:endParaRPr lang="en-US" sz="11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A7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E766E"/>
                </a:solidFill>
              </a:rPr>
              <a:t>GENOME-WIDE RELATEDNESS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824"/>
                </a:solidFill>
              </a:rPr>
              <a:t>Genome Comparator asks a higher-resolution question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417320" y="2240280"/>
            <a:ext cx="1097280" cy="-411480"/>
          </a:xfrm>
          <a:prstGeom prst="line">
            <a:avLst/>
          </a:prstGeom>
          <a:noFill/>
          <a:ln w="25400">
            <a:solidFill>
              <a:srgbClr val="9BA7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71800" y="1874520"/>
            <a:ext cx="868680" cy="530352"/>
          </a:xfrm>
          <a:prstGeom prst="line">
            <a:avLst/>
          </a:prstGeom>
          <a:noFill/>
          <a:ln w="25400">
            <a:solidFill>
              <a:srgbClr val="9BA7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43400" y="2468880"/>
            <a:ext cx="1143000" cy="-411480"/>
          </a:xfrm>
          <a:prstGeom prst="line">
            <a:avLst/>
          </a:prstGeom>
          <a:noFill/>
          <a:ln w="25400">
            <a:solidFill>
              <a:srgbClr val="9BA7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89320" y="2029968"/>
            <a:ext cx="1508760" cy="-502920"/>
          </a:xfrm>
          <a:prstGeom prst="line">
            <a:avLst/>
          </a:prstGeom>
          <a:noFill/>
          <a:ln w="25400">
            <a:solidFill>
              <a:srgbClr val="9BA7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0" y="1737360"/>
            <a:ext cx="731520" cy="822960"/>
          </a:xfrm>
          <a:prstGeom prst="line">
            <a:avLst/>
          </a:prstGeom>
          <a:noFill/>
          <a:ln w="25400">
            <a:solidFill>
              <a:srgbClr val="9BA7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89720" y="2606040"/>
            <a:ext cx="868680" cy="-548640"/>
          </a:xfrm>
          <a:prstGeom prst="line">
            <a:avLst/>
          </a:prstGeom>
          <a:noFill/>
          <a:ln w="25400">
            <a:solidFill>
              <a:srgbClr val="9BA7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920240"/>
            <a:ext cx="731520" cy="731520"/>
          </a:xfrm>
          <a:prstGeom prst="ellipse">
            <a:avLst/>
          </a:prstGeom>
          <a:solidFill>
            <a:srgbClr val="675B91">
              <a:alpha val="85000"/>
            </a:srgbClr>
          </a:solidFill>
          <a:ln w="19050">
            <a:solidFill>
              <a:srgbClr val="675B9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15798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68880" y="1463040"/>
            <a:ext cx="731520" cy="731520"/>
          </a:xfrm>
          <a:prstGeom prst="ellipse">
            <a:avLst/>
          </a:prstGeom>
          <a:solidFill>
            <a:srgbClr val="B97918">
              <a:alpha val="85000"/>
            </a:srgbClr>
          </a:solidFill>
          <a:ln w="19050">
            <a:solidFill>
              <a:srgbClr val="B979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70078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0" y="2194560"/>
            <a:ext cx="731520" cy="731520"/>
          </a:xfrm>
          <a:prstGeom prst="ellipse">
            <a:avLst/>
          </a:prstGeom>
          <a:solidFill>
            <a:srgbClr val="4E7B57">
              <a:alpha val="85000"/>
            </a:srgbClr>
          </a:solidFill>
          <a:ln w="19050">
            <a:solidFill>
              <a:srgbClr val="4E7B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243230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0" y="1737360"/>
            <a:ext cx="731520" cy="731520"/>
          </a:xfrm>
          <a:prstGeom prst="ellipse">
            <a:avLst/>
          </a:prstGeom>
          <a:solidFill>
            <a:srgbClr val="B24C48">
              <a:alpha val="85000"/>
            </a:srgbClr>
          </a:solidFill>
          <a:ln w="19050">
            <a:solidFill>
              <a:srgbClr val="B24C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197510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98080" y="1371600"/>
            <a:ext cx="731520" cy="731520"/>
          </a:xfrm>
          <a:prstGeom prst="ellipse">
            <a:avLst/>
          </a:prstGeom>
          <a:solidFill>
            <a:srgbClr val="0E766E">
              <a:alpha val="85000"/>
            </a:srgbClr>
          </a:solidFill>
          <a:ln w="19050">
            <a:solidFill>
              <a:srgbClr val="0E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0" y="160934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ref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86800" y="2560320"/>
            <a:ext cx="731520" cy="731520"/>
          </a:xfrm>
          <a:prstGeom prst="ellipse">
            <a:avLst/>
          </a:prstGeom>
          <a:solidFill>
            <a:srgbClr val="386D8C">
              <a:alpha val="85000"/>
            </a:srgbClr>
          </a:solidFill>
          <a:ln w="19050">
            <a:solidFill>
              <a:srgbClr val="386D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0" y="279806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ref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058400" y="1737360"/>
            <a:ext cx="731520" cy="731520"/>
          </a:xfrm>
          <a:prstGeom prst="ellipse">
            <a:avLst/>
          </a:prstGeom>
          <a:solidFill>
            <a:srgbClr val="675B91">
              <a:alpha val="85000"/>
            </a:srgbClr>
          </a:solidFill>
          <a:ln w="19050">
            <a:solidFill>
              <a:srgbClr val="675B9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0" y="197510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ref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" y="3886200"/>
            <a:ext cx="33832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3886200"/>
            <a:ext cx="64008" cy="1325880"/>
          </a:xfrm>
          <a:prstGeom prst="rect">
            <a:avLst/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" y="404164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824"/>
                </a:solidFill>
              </a:rPr>
              <a:t>Question 1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41832" y="4462272"/>
            <a:ext cx="3072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Does genome-wide grouping agree with ST/CC?</a:t>
            </a:r>
            <a:endParaRPr lang="en-US" sz="1160" dirty="0"/>
          </a:p>
        </p:txBody>
      </p:sp>
      <p:sp>
        <p:nvSpPr>
          <p:cNvPr id="28" name="Shape 26"/>
          <p:cNvSpPr/>
          <p:nvPr/>
        </p:nvSpPr>
        <p:spPr>
          <a:xfrm>
            <a:off x="4407408" y="3886200"/>
            <a:ext cx="33832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07408" y="3886200"/>
            <a:ext cx="64008" cy="1325880"/>
          </a:xfrm>
          <a:prstGeom prst="rect">
            <a:avLst/>
          </a:prstGeom>
          <a:solidFill>
            <a:srgbClr val="B24C48"/>
          </a:solidFill>
          <a:ln w="12700">
            <a:solidFill>
              <a:srgbClr val="B24C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404164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824"/>
                </a:solidFill>
              </a:rPr>
              <a:t>Question 2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572000" y="4462272"/>
            <a:ext cx="3072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Does a “generalist” sit among several source groups?</a:t>
            </a:r>
            <a:endParaRPr lang="en-US" sz="1160" dirty="0"/>
          </a:p>
        </p:txBody>
      </p:sp>
      <p:sp>
        <p:nvSpPr>
          <p:cNvPr id="32" name="Shape 30"/>
          <p:cNvSpPr/>
          <p:nvPr/>
        </p:nvSpPr>
        <p:spPr>
          <a:xfrm>
            <a:off x="8037576" y="3886200"/>
            <a:ext cx="33832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37576" y="3886200"/>
            <a:ext cx="64008" cy="1325880"/>
          </a:xfrm>
          <a:prstGeom prst="rect">
            <a:avLst/>
          </a:prstGeom>
          <a:solidFill>
            <a:srgbClr val="675B91"/>
          </a:solidFill>
          <a:ln w="12700">
            <a:solidFill>
              <a:srgbClr val="675B9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02168" y="404164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824"/>
                </a:solidFill>
              </a:rPr>
              <a:t>Question 3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202168" y="4462272"/>
            <a:ext cx="3072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Would any distance alone prove transmission direction?</a:t>
            </a:r>
            <a:endParaRPr lang="en-US" sz="1160" dirty="0"/>
          </a:p>
        </p:txBody>
      </p:sp>
      <p:sp>
        <p:nvSpPr>
          <p:cNvPr id="36" name="Text 34"/>
          <p:cNvSpPr/>
          <p:nvPr/>
        </p:nvSpPr>
        <p:spPr>
          <a:xfrm>
            <a:off x="603504" y="6254496"/>
            <a:ext cx="10561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i="1" dirty="0">
                <a:solidFill>
                  <a:srgbClr val="7A8581"/>
                </a:solidFill>
              </a:rPr>
              <a:t>BIGSdb Genome Comparator can compare uploaded FASTA/ZIP files using defined locus schemes and return distance/network outputs.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A7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E766E"/>
                </a:solidFill>
              </a:rPr>
              <a:t>THE BIOLOGICAL LIMIT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824"/>
                </a:solidFill>
              </a:rPr>
              <a:t>Specialists are easier; generalists blur the source signal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2743200" cy="2743200"/>
          </a:xfrm>
          <a:prstGeom prst="ellipse">
            <a:avLst/>
          </a:prstGeom>
          <a:solidFill>
            <a:srgbClr val="E8E3F2">
              <a:alpha val="80000"/>
            </a:srgbClr>
          </a:solidFill>
          <a:ln w="25400">
            <a:solidFill>
              <a:srgbClr val="675B9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2057400"/>
            <a:ext cx="310896" cy="310896"/>
          </a:xfrm>
          <a:prstGeom prst="ellipse">
            <a:avLst/>
          </a:prstGeom>
          <a:solidFill>
            <a:srgbClr val="675B91"/>
          </a:solidFill>
          <a:ln w="12700">
            <a:solidFill>
              <a:srgbClr val="675B9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92808" y="2057400"/>
            <a:ext cx="310896" cy="310896"/>
          </a:xfrm>
          <a:prstGeom prst="ellipse">
            <a:avLst/>
          </a:prstGeom>
          <a:solidFill>
            <a:srgbClr val="675B91"/>
          </a:solidFill>
          <a:ln w="12700">
            <a:solidFill>
              <a:srgbClr val="675B9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59736" y="2057400"/>
            <a:ext cx="310896" cy="310896"/>
          </a:xfrm>
          <a:prstGeom prst="ellipse">
            <a:avLst/>
          </a:prstGeom>
          <a:solidFill>
            <a:srgbClr val="675B91"/>
          </a:solidFill>
          <a:ln w="12700">
            <a:solidFill>
              <a:srgbClr val="675B9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2624328"/>
            <a:ext cx="310896" cy="310896"/>
          </a:xfrm>
          <a:prstGeom prst="ellipse">
            <a:avLst/>
          </a:prstGeom>
          <a:solidFill>
            <a:srgbClr val="675B91"/>
          </a:solidFill>
          <a:ln w="12700">
            <a:solidFill>
              <a:srgbClr val="675B9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92808" y="2624328"/>
            <a:ext cx="310896" cy="310896"/>
          </a:xfrm>
          <a:prstGeom prst="ellipse">
            <a:avLst/>
          </a:prstGeom>
          <a:solidFill>
            <a:srgbClr val="675B91"/>
          </a:solidFill>
          <a:ln w="12700">
            <a:solidFill>
              <a:srgbClr val="675B9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59736" y="2624328"/>
            <a:ext cx="310896" cy="310896"/>
          </a:xfrm>
          <a:prstGeom prst="ellipse">
            <a:avLst/>
          </a:prstGeom>
          <a:solidFill>
            <a:srgbClr val="675B91"/>
          </a:solidFill>
          <a:ln w="12700">
            <a:solidFill>
              <a:srgbClr val="675B9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25880" y="3191256"/>
            <a:ext cx="310896" cy="310896"/>
          </a:xfrm>
          <a:prstGeom prst="ellipse">
            <a:avLst/>
          </a:prstGeom>
          <a:solidFill>
            <a:srgbClr val="675B91"/>
          </a:solidFill>
          <a:ln w="12700">
            <a:solidFill>
              <a:srgbClr val="675B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4526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75B91"/>
                </a:solidFill>
              </a:rPr>
              <a:t>SPECIALIST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491947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0716C"/>
                </a:solidFill>
              </a:rPr>
              <a:t>One source class carries most of the lineage signal.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800600" y="1417320"/>
            <a:ext cx="2926080" cy="2926080"/>
          </a:xfrm>
          <a:prstGeom prst="ellipse">
            <a:avLst/>
          </a:prstGeom>
          <a:solidFill>
            <a:srgbClr val="F5E8CC">
              <a:alpha val="65000"/>
            </a:srgbClr>
          </a:solidFill>
          <a:ln w="19050">
            <a:solidFill>
              <a:srgbClr val="B9791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1417320"/>
            <a:ext cx="2926080" cy="2926080"/>
          </a:xfrm>
          <a:prstGeom prst="ellipse">
            <a:avLst/>
          </a:prstGeom>
          <a:solidFill>
            <a:srgbClr val="E8E3F2">
              <a:alpha val="65000"/>
            </a:srgbClr>
          </a:solidFill>
          <a:ln w="19050">
            <a:solidFill>
              <a:srgbClr val="675B9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1417320"/>
            <a:ext cx="2926080" cy="2926080"/>
          </a:xfrm>
          <a:prstGeom prst="ellipse">
            <a:avLst/>
          </a:prstGeom>
          <a:solidFill>
            <a:srgbClr val="DDEEEA">
              <a:alpha val="65000"/>
            </a:srgbClr>
          </a:solidFill>
          <a:ln w="19050">
            <a:solidFill>
              <a:srgbClr val="0E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18288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500D"/>
                </a:solidFill>
              </a:rPr>
              <a:t>chicken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78040" y="18288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93F70"/>
                </a:solidFill>
              </a:rPr>
              <a:t>wild bird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61120" y="182880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5D56"/>
                </a:solidFill>
              </a:rPr>
              <a:t>ruminant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086600" y="2834640"/>
            <a:ext cx="15544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B24C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42048" y="30723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24C48"/>
                </a:solidFill>
              </a:rPr>
              <a:t>CC21 / CC45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84848" y="45262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24C48"/>
                </a:solidFill>
              </a:rPr>
              <a:t>GENERALIST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74920" y="4919472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0716C"/>
                </a:solidFill>
              </a:rPr>
              <a:t>Host switching/shared gene pools reduce the clean source-specific signal.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03504" y="6254496"/>
            <a:ext cx="10561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i="1" dirty="0">
                <a:solidFill>
                  <a:srgbClr val="7A8581"/>
                </a:solidFill>
              </a:rPr>
              <a:t>Arning et al.: increasing “generalist index” (number of source classes occupied by an ST) was associated with lower source-attribution accuracy.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A7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E766E"/>
                </a:solidFill>
              </a:rPr>
              <a:t>45–70 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824"/>
                </a:solidFill>
              </a:rPr>
              <a:t>Practical 2 — turn relatedness into an ecological prediction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389888"/>
            <a:ext cx="523036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89888"/>
            <a:ext cx="64008" cy="1572768"/>
          </a:xfrm>
          <a:prstGeom prst="rect">
            <a:avLst/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54533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824"/>
                </a:solidFill>
              </a:rPr>
              <a:t>1. Search ST / CC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" y="1965960"/>
            <a:ext cx="49194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What source metadata are represented?</a:t>
            </a:r>
            <a:endParaRPr lang="en-US" sz="1160" dirty="0"/>
          </a:p>
        </p:txBody>
      </p:sp>
      <p:sp>
        <p:nvSpPr>
          <p:cNvPr id="8" name="Shape 6"/>
          <p:cNvSpPr/>
          <p:nvPr/>
        </p:nvSpPr>
        <p:spPr>
          <a:xfrm>
            <a:off x="6355080" y="1389888"/>
            <a:ext cx="5230368" cy="1572768"/>
          </a:xfrm>
          <a:prstGeom prst="roundRect">
            <a:avLst>
              <a:gd name="adj" fmla="val 3488"/>
            </a:avLst>
          </a:prstGeom>
          <a:solidFill>
            <a:srgbClr val="DDEAF2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1389888"/>
            <a:ext cx="64008" cy="1572768"/>
          </a:xfrm>
          <a:prstGeom prst="rect">
            <a:avLst/>
          </a:prstGeom>
          <a:solidFill>
            <a:srgbClr val="386D8C"/>
          </a:solidFill>
          <a:ln w="12700">
            <a:solidFill>
              <a:srgbClr val="386D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154533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824"/>
                </a:solidFill>
              </a:rPr>
              <a:t>2. Label the lineage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19672" y="1965960"/>
            <a:ext cx="49194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specialist / biased / generalist / unclear</a:t>
            </a:r>
            <a:endParaRPr lang="en-US" sz="1160" dirty="0"/>
          </a:p>
        </p:txBody>
      </p:sp>
      <p:sp>
        <p:nvSpPr>
          <p:cNvPr id="12" name="Shape 10"/>
          <p:cNvSpPr/>
          <p:nvPr/>
        </p:nvSpPr>
        <p:spPr>
          <a:xfrm>
            <a:off x="685800" y="3355848"/>
            <a:ext cx="523036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355848"/>
            <a:ext cx="64008" cy="1572768"/>
          </a:xfrm>
          <a:prstGeom prst="rect">
            <a:avLst/>
          </a:prstGeom>
          <a:solidFill>
            <a:srgbClr val="675B91"/>
          </a:solidFill>
          <a:ln w="12700">
            <a:solidFill>
              <a:srgbClr val="675B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51129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824"/>
                </a:solidFill>
              </a:rPr>
              <a:t>3. Run Genome Comparator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0392" y="3931920"/>
            <a:ext cx="49194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A–D + the small public reference panel</a:t>
            </a:r>
            <a:endParaRPr lang="en-US" sz="1160" dirty="0"/>
          </a:p>
        </p:txBody>
      </p:sp>
      <p:sp>
        <p:nvSpPr>
          <p:cNvPr id="16" name="Shape 14"/>
          <p:cNvSpPr/>
          <p:nvPr/>
        </p:nvSpPr>
        <p:spPr>
          <a:xfrm>
            <a:off x="6355080" y="3355848"/>
            <a:ext cx="5230368" cy="1572768"/>
          </a:xfrm>
          <a:prstGeom prst="roundRect">
            <a:avLst>
              <a:gd name="adj" fmla="val 3488"/>
            </a:avLst>
          </a:prstGeom>
          <a:solidFill>
            <a:srgbClr val="DDEAF2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3355848"/>
            <a:ext cx="64008" cy="1572768"/>
          </a:xfrm>
          <a:prstGeom prst="rect">
            <a:avLst/>
          </a:prstGeom>
          <a:solidFill>
            <a:srgbClr val="B97918"/>
          </a:solidFill>
          <a:ln w="12700">
            <a:solidFill>
              <a:srgbClr val="B979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9672" y="351129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824"/>
                </a:solidFill>
              </a:rPr>
              <a:t>4. Make a prediction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19672" y="3931920"/>
            <a:ext cx="49194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source + confidence + one caveat</a:t>
            </a:r>
            <a:endParaRPr lang="en-US" sz="1160" dirty="0"/>
          </a:p>
        </p:txBody>
      </p:sp>
      <p:sp>
        <p:nvSpPr>
          <p:cNvPr id="20" name="Shape 18"/>
          <p:cNvSpPr/>
          <p:nvPr/>
        </p:nvSpPr>
        <p:spPr>
          <a:xfrm>
            <a:off x="1600200" y="5440680"/>
            <a:ext cx="9006840" cy="402336"/>
          </a:xfrm>
          <a:prstGeom prst="roundRect">
            <a:avLst>
              <a:gd name="adj" fmla="val 9091"/>
            </a:avLst>
          </a:prstGeom>
          <a:solidFill>
            <a:srgbClr val="DDEEEA"/>
          </a:solidFill>
          <a:ln w="12700">
            <a:solidFill>
              <a:srgbClr val="B8D8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74520" y="5559552"/>
            <a:ext cx="8458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A5D56"/>
                </a:solidFill>
              </a:rPr>
              <a:t>Predict first. Do not open the true source/model reveal yet.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A7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E766E"/>
                </a:solidFill>
              </a:rPr>
              <a:t>SOURCE ATTRIBUTION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824"/>
                </a:solidFill>
              </a:rPr>
              <a:t>More genomic resolution improved attribution — but did not make it perfect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05840" y="2803550"/>
            <a:ext cx="1143000" cy="1814170"/>
          </a:xfrm>
          <a:prstGeom prst="roundRect">
            <a:avLst>
              <a:gd name="adj" fmla="val 4000"/>
            </a:avLst>
          </a:prstGeom>
          <a:solidFill>
            <a:srgbClr val="D5DCD8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45607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824"/>
                </a:solidFill>
              </a:rPr>
              <a:t>64%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477316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824"/>
                </a:solidFill>
              </a:rPr>
              <a:t>iSource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824"/>
                </a:solidFill>
              </a:rPr>
              <a:t>benchmark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0" y="2605126"/>
            <a:ext cx="1143000" cy="2012594"/>
          </a:xfrm>
          <a:prstGeom prst="roundRect">
            <a:avLst>
              <a:gd name="adj" fmla="val 4000"/>
            </a:avLst>
          </a:prstGeom>
          <a:solidFill>
            <a:srgbClr val="B97918"/>
          </a:solidFill>
          <a:ln w="12700">
            <a:solidFill>
              <a:srgbClr val="B979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225765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97918"/>
                </a:solidFill>
              </a:rPr>
              <a:t>71%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337560" y="477316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824"/>
                </a:solidFill>
              </a:rPr>
              <a:t>ML 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824"/>
                </a:solidFill>
              </a:rPr>
              <a:t>MLST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2208276"/>
            <a:ext cx="1143000" cy="2409444"/>
          </a:xfrm>
          <a:prstGeom prst="roundRect">
            <a:avLst>
              <a:gd name="adj" fmla="val 4000"/>
            </a:avLst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86080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66E"/>
                </a:solidFill>
              </a:rPr>
              <a:t>85%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89320" y="477316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824"/>
                </a:solidFill>
              </a:rPr>
              <a:t>XGBoost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824"/>
                </a:solidFill>
              </a:rPr>
              <a:t>cgMLST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61120" y="2406701"/>
            <a:ext cx="1143000" cy="2211019"/>
          </a:xfrm>
          <a:prstGeom prst="roundRect">
            <a:avLst>
              <a:gd name="adj" fmla="val 4000"/>
            </a:avLst>
          </a:prstGeom>
          <a:solidFill>
            <a:srgbClr val="675B91"/>
          </a:solidFill>
          <a:ln w="12700">
            <a:solidFill>
              <a:srgbClr val="675B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400" y="2059229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75B91"/>
                </a:solidFill>
              </a:rPr>
              <a:t>78%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41080" y="477316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824"/>
                </a:solidFill>
              </a:rPr>
              <a:t>k-mer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824"/>
                </a:solidFill>
              </a:rPr>
              <a:t>WGS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617720"/>
            <a:ext cx="10789920" cy="0"/>
          </a:xfrm>
          <a:prstGeom prst="line">
            <a:avLst/>
          </a:prstGeom>
          <a:noFill/>
          <a:ln w="15240">
            <a:solidFill>
              <a:srgbClr val="ABB5B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49640" y="1307592"/>
            <a:ext cx="2834640" cy="1490472"/>
          </a:xfrm>
          <a:prstGeom prst="roundRect">
            <a:avLst>
              <a:gd name="adj" fmla="val 3681"/>
            </a:avLst>
          </a:prstGeom>
          <a:solidFill>
            <a:srgbClr val="DDEEEA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49640" y="1307592"/>
            <a:ext cx="64008" cy="1490472"/>
          </a:xfrm>
          <a:prstGeom prst="rect">
            <a:avLst/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14232" y="146304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824"/>
                </a:solidFill>
              </a:rPr>
              <a:t>Why cgMLST?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714232" y="1883664"/>
            <a:ext cx="25237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1,343 loci capture much more host-associated variation than seven-locus MLST while retaining a portable gene-by-gene representation.</a:t>
            </a:r>
            <a:endParaRPr lang="en-US" sz="1160" dirty="0"/>
          </a:p>
        </p:txBody>
      </p:sp>
      <p:sp>
        <p:nvSpPr>
          <p:cNvPr id="21" name="Shape 19"/>
          <p:cNvSpPr/>
          <p:nvPr/>
        </p:nvSpPr>
        <p:spPr>
          <a:xfrm>
            <a:off x="8549640" y="3044952"/>
            <a:ext cx="2834640" cy="1490472"/>
          </a:xfrm>
          <a:prstGeom prst="roundRect">
            <a:avLst>
              <a:gd name="adj" fmla="val 3681"/>
            </a:avLst>
          </a:prstGeom>
          <a:solidFill>
            <a:srgbClr val="F2DDDB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49640" y="3044952"/>
            <a:ext cx="64008" cy="1490472"/>
          </a:xfrm>
          <a:prstGeom prst="rect">
            <a:avLst/>
          </a:prstGeom>
          <a:solidFill>
            <a:srgbClr val="B24C48"/>
          </a:solidFill>
          <a:ln w="12700">
            <a:solidFill>
              <a:srgbClr val="B24C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14232" y="320040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824"/>
                </a:solidFill>
              </a:rPr>
              <a:t>Why not 100%?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714232" y="3621024"/>
            <a:ext cx="25237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Source populations overlap biologically. Host switching and generalist lineages erase some source-specific signal.</a:t>
            </a:r>
            <a:endParaRPr lang="en-US" sz="1160" dirty="0"/>
          </a:p>
        </p:txBody>
      </p:sp>
      <p:sp>
        <p:nvSpPr>
          <p:cNvPr id="25" name="Text 23"/>
          <p:cNvSpPr/>
          <p:nvPr/>
        </p:nvSpPr>
        <p:spPr>
          <a:xfrm>
            <a:off x="603504" y="6254496"/>
            <a:ext cx="10561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i="1" dirty="0">
                <a:solidFill>
                  <a:srgbClr val="7A8581"/>
                </a:solidFill>
              </a:rPr>
              <a:t>Arning et al. 2021 abstract/results: ~64% standard benchmark, ~71% MLST, ~85% cgMLST, ~78% k-merised WGS top-line values.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A7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E766E"/>
                </a:solidFill>
              </a:rPr>
              <a:t>GENERALIST INDEX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824"/>
                </a:solidFill>
              </a:rPr>
              <a:t>A model error can be a useful biological result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280160" y="1508760"/>
            <a:ext cx="0" cy="3291840"/>
          </a:xfrm>
          <a:prstGeom prst="line">
            <a:avLst/>
          </a:prstGeom>
          <a:noFill/>
          <a:ln w="17780">
            <a:solidFill>
              <a:srgbClr val="7F8D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4800600"/>
            <a:ext cx="5486400" cy="0"/>
          </a:xfrm>
          <a:prstGeom prst="line">
            <a:avLst/>
          </a:prstGeom>
          <a:noFill/>
          <a:ln w="17780">
            <a:solidFill>
              <a:srgbClr val="7F8D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1956816"/>
            <a:ext cx="182880" cy="182880"/>
          </a:xfrm>
          <a:prstGeom prst="ellipse">
            <a:avLst/>
          </a:prstGeom>
          <a:solidFill>
            <a:srgbClr val="B24C48"/>
          </a:solidFill>
          <a:ln w="12700">
            <a:solidFill>
              <a:srgbClr val="B24C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91056" y="2242109"/>
            <a:ext cx="182880" cy="182880"/>
          </a:xfrm>
          <a:prstGeom prst="ellipse">
            <a:avLst/>
          </a:prstGeom>
          <a:solidFill>
            <a:srgbClr val="B24C48"/>
          </a:solidFill>
          <a:ln w="12700">
            <a:solidFill>
              <a:srgbClr val="B24C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97480" y="2527402"/>
            <a:ext cx="182880" cy="182880"/>
          </a:xfrm>
          <a:prstGeom prst="ellipse">
            <a:avLst/>
          </a:prstGeom>
          <a:solidFill>
            <a:srgbClr val="B24C48"/>
          </a:solidFill>
          <a:ln w="12700">
            <a:solidFill>
              <a:srgbClr val="B24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25496" y="2812694"/>
            <a:ext cx="182880" cy="182880"/>
          </a:xfrm>
          <a:prstGeom prst="ellipse">
            <a:avLst/>
          </a:prstGeom>
          <a:solidFill>
            <a:srgbClr val="B24C48"/>
          </a:solidFill>
          <a:ln w="12700">
            <a:solidFill>
              <a:srgbClr val="B24C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3050438"/>
            <a:ext cx="182880" cy="182880"/>
          </a:xfrm>
          <a:prstGeom prst="ellipse">
            <a:avLst/>
          </a:prstGeom>
          <a:solidFill>
            <a:srgbClr val="B24C48"/>
          </a:solidFill>
          <a:ln w="12700">
            <a:solidFill>
              <a:srgbClr val="B24C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59936" y="3430829"/>
            <a:ext cx="182880" cy="182880"/>
          </a:xfrm>
          <a:prstGeom prst="ellipse">
            <a:avLst/>
          </a:prstGeom>
          <a:solidFill>
            <a:srgbClr val="B24C48"/>
          </a:solidFill>
          <a:ln w="12700">
            <a:solidFill>
              <a:srgbClr val="B24C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6360" y="3621024"/>
            <a:ext cx="182880" cy="182880"/>
          </a:xfrm>
          <a:prstGeom prst="ellipse">
            <a:avLst/>
          </a:prstGeom>
          <a:solidFill>
            <a:srgbClr val="B24C48"/>
          </a:solidFill>
          <a:ln w="12700">
            <a:solidFill>
              <a:srgbClr val="B24C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94376" y="3953866"/>
            <a:ext cx="182880" cy="182880"/>
          </a:xfrm>
          <a:prstGeom prst="ellipse">
            <a:avLst/>
          </a:prstGeom>
          <a:solidFill>
            <a:srgbClr val="B24C48"/>
          </a:solidFill>
          <a:ln w="12700">
            <a:solidFill>
              <a:srgbClr val="B24C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4334256"/>
            <a:ext cx="182880" cy="182880"/>
          </a:xfrm>
          <a:prstGeom prst="ellipse">
            <a:avLst/>
          </a:prstGeom>
          <a:solidFill>
            <a:srgbClr val="B24C48"/>
          </a:solidFill>
          <a:ln w="12700">
            <a:solidFill>
              <a:srgbClr val="B24C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72768" y="1874520"/>
            <a:ext cx="4800600" cy="2148840"/>
          </a:xfrm>
          <a:prstGeom prst="line">
            <a:avLst/>
          </a:prstGeom>
          <a:noFill/>
          <a:ln w="25400">
            <a:solidFill>
              <a:srgbClr val="B24C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 rot="16200000">
            <a:off x="237744" y="14447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0716C"/>
                </a:solidFill>
              </a:rPr>
              <a:t>higher accuracy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307592" y="49194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16C"/>
                </a:solidFill>
              </a:rPr>
              <a:t>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42032" y="49194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16C"/>
                </a:solidFill>
              </a:rPr>
              <a:t>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776472" y="49194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16C"/>
                </a:solidFill>
              </a:rPr>
              <a:t>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10912" y="49194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16C"/>
                </a:solidFill>
              </a:rPr>
              <a:t>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45352" y="49194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16C"/>
                </a:solidFill>
              </a:rPr>
              <a:t>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508760" y="52852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824"/>
                </a:solidFill>
              </a:rPr>
              <a:t>generalist index = number of source classes occupied by the ST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360920" y="1463040"/>
            <a:ext cx="3749040" cy="1417320"/>
          </a:xfrm>
          <a:prstGeom prst="roundRect">
            <a:avLst>
              <a:gd name="adj" fmla="val 3871"/>
            </a:avLst>
          </a:prstGeom>
          <a:solidFill>
            <a:srgbClr val="F2DDDB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60920" y="1463040"/>
            <a:ext cx="64008" cy="1417320"/>
          </a:xfrm>
          <a:prstGeom prst="rect">
            <a:avLst/>
          </a:prstGeom>
          <a:solidFill>
            <a:srgbClr val="B24C48"/>
          </a:solidFill>
          <a:ln w="12700">
            <a:solidFill>
              <a:srgbClr val="B24C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25512" y="1618488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824"/>
                </a:solidFill>
              </a:rPr>
              <a:t>Mystery 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525512" y="2039112"/>
            <a:ext cx="3438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The setup script prefers a high-generalist-index record and, when possible, one the published model got wrong.</a:t>
            </a:r>
            <a:endParaRPr lang="en-US" sz="1160" dirty="0"/>
          </a:p>
        </p:txBody>
      </p:sp>
      <p:sp>
        <p:nvSpPr>
          <p:cNvPr id="27" name="Shape 25"/>
          <p:cNvSpPr/>
          <p:nvPr/>
        </p:nvSpPr>
        <p:spPr>
          <a:xfrm>
            <a:off x="7360920" y="3154680"/>
            <a:ext cx="3749040" cy="1417320"/>
          </a:xfrm>
          <a:prstGeom prst="roundRect">
            <a:avLst>
              <a:gd name="adj" fmla="val 3871"/>
            </a:avLst>
          </a:prstGeom>
          <a:solidFill>
            <a:srgbClr val="F5E8CC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60920" y="3154680"/>
            <a:ext cx="64008" cy="1417320"/>
          </a:xfrm>
          <a:prstGeom prst="rect">
            <a:avLst/>
          </a:prstGeom>
          <a:solidFill>
            <a:srgbClr val="B97918"/>
          </a:solidFill>
          <a:ln w="12700">
            <a:solidFill>
              <a:srgbClr val="B9791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25512" y="3310128"/>
            <a:ext cx="3456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824"/>
                </a:solidFill>
              </a:rPr>
              <a:t>Discussion question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525512" y="3730752"/>
            <a:ext cx="3438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Is the “wrong” prediction telling us about a bad classifier — or about genuine overlap between host-associated gene pools?</a:t>
            </a:r>
            <a:endParaRPr lang="en-US" sz="1160" dirty="0"/>
          </a:p>
        </p:txBody>
      </p:sp>
      <p:sp>
        <p:nvSpPr>
          <p:cNvPr id="31" name="Text 29"/>
          <p:cNvSpPr/>
          <p:nvPr/>
        </p:nvSpPr>
        <p:spPr>
          <a:xfrm>
            <a:off x="7269480" y="50749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75B91"/>
                </a:solidFill>
              </a:rPr>
              <a:t>58% of wild-bird isolates in the published dataset belonged to STs found only in that niche.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03504" y="6254496"/>
            <a:ext cx="10561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i="1" dirty="0">
                <a:solidFill>
                  <a:srgbClr val="7A8581"/>
                </a:solidFill>
              </a:rPr>
              <a:t>Conceptual trend only (points are illustrative). Published findings: higher generalist index reduced accuracy; 58% of wild-bird isolates were in niche-only STs.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A7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E766E"/>
                </a:solidFill>
              </a:rPr>
              <a:t>70–95 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824"/>
                </a:solidFill>
              </a:rPr>
              <a:t>Practical 3 — predict first, then reveal the published labels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13232" y="1463040"/>
            <a:ext cx="2450592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463040"/>
            <a:ext cx="64008" cy="1938528"/>
          </a:xfrm>
          <a:prstGeom prst="rect">
            <a:avLst/>
          </a:prstGeom>
          <a:solidFill>
            <a:srgbClr val="675B91"/>
          </a:solidFill>
          <a:ln w="12700">
            <a:solidFill>
              <a:srgbClr val="675B9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618488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824"/>
                </a:solidFill>
              </a:rPr>
              <a:t>SOURCE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77824" y="2039112"/>
            <a:ext cx="213969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chicken / cattle / sheep / wild bird / environment</a:t>
            </a:r>
            <a:endParaRPr lang="en-US" sz="1160" dirty="0"/>
          </a:p>
        </p:txBody>
      </p:sp>
      <p:sp>
        <p:nvSpPr>
          <p:cNvPr id="8" name="Shape 6"/>
          <p:cNvSpPr/>
          <p:nvPr/>
        </p:nvSpPr>
        <p:spPr>
          <a:xfrm>
            <a:off x="3511296" y="1463040"/>
            <a:ext cx="2450592" cy="1938528"/>
          </a:xfrm>
          <a:prstGeom prst="roundRect">
            <a:avLst>
              <a:gd name="adj" fmla="val 2830"/>
            </a:avLst>
          </a:prstGeom>
          <a:solidFill>
            <a:srgbClr val="DDEAF2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11296" y="1463040"/>
            <a:ext cx="64008" cy="1938528"/>
          </a:xfrm>
          <a:prstGeom prst="rect">
            <a:avLst/>
          </a:prstGeom>
          <a:solidFill>
            <a:srgbClr val="0E766E"/>
          </a:solidFill>
          <a:ln w="12700">
            <a:solidFill>
              <a:srgbClr val="0E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75888" y="1618488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824"/>
                </a:solidFill>
              </a:rPr>
              <a:t>CONFIDENCE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75888" y="2039112"/>
            <a:ext cx="213969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low / medium / high</a:t>
            </a:r>
            <a:endParaRPr lang="en-US" sz="1160" dirty="0"/>
          </a:p>
        </p:txBody>
      </p:sp>
      <p:sp>
        <p:nvSpPr>
          <p:cNvPr id="12" name="Shape 10"/>
          <p:cNvSpPr/>
          <p:nvPr/>
        </p:nvSpPr>
        <p:spPr>
          <a:xfrm>
            <a:off x="6309360" y="1463040"/>
            <a:ext cx="2450592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463040"/>
            <a:ext cx="64008" cy="1938528"/>
          </a:xfrm>
          <a:prstGeom prst="rect">
            <a:avLst/>
          </a:prstGeom>
          <a:solidFill>
            <a:srgbClr val="B97918"/>
          </a:solidFill>
          <a:ln w="12700">
            <a:solidFill>
              <a:srgbClr val="B979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3952" y="1618488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824"/>
                </a:solidFill>
              </a:rPr>
              <a:t>EVIDENCE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73952" y="2039112"/>
            <a:ext cx="213969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ST, CC, metadata, genome-wide context</a:t>
            </a:r>
            <a:endParaRPr lang="en-US" sz="1160" dirty="0"/>
          </a:p>
        </p:txBody>
      </p:sp>
      <p:sp>
        <p:nvSpPr>
          <p:cNvPr id="16" name="Shape 14"/>
          <p:cNvSpPr/>
          <p:nvPr/>
        </p:nvSpPr>
        <p:spPr>
          <a:xfrm>
            <a:off x="9107424" y="1463040"/>
            <a:ext cx="2450592" cy="1938528"/>
          </a:xfrm>
          <a:prstGeom prst="roundRect">
            <a:avLst>
              <a:gd name="adj" fmla="val 2830"/>
            </a:avLst>
          </a:prstGeom>
          <a:solidFill>
            <a:srgbClr val="DDEAF2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07424" y="1463040"/>
            <a:ext cx="64008" cy="1938528"/>
          </a:xfrm>
          <a:prstGeom prst="rect">
            <a:avLst/>
          </a:prstGeom>
          <a:solidFill>
            <a:srgbClr val="B24C48"/>
          </a:solidFill>
          <a:ln w="12700">
            <a:solidFill>
              <a:srgbClr val="B24C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72016" y="1618488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824"/>
                </a:solidFill>
              </a:rPr>
              <a:t>FAILURE MODE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72016" y="2039112"/>
            <a:ext cx="213969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what could make this inference wrong?</a:t>
            </a:r>
            <a:endParaRPr lang="en-US" sz="1160" dirty="0"/>
          </a:p>
        </p:txBody>
      </p:sp>
      <p:sp>
        <p:nvSpPr>
          <p:cNvPr id="20" name="Shape 18"/>
          <p:cNvSpPr/>
          <p:nvPr/>
        </p:nvSpPr>
        <p:spPr>
          <a:xfrm>
            <a:off x="1234440" y="3950208"/>
            <a:ext cx="9692640" cy="1298448"/>
          </a:xfrm>
          <a:prstGeom prst="roundRect">
            <a:avLst>
              <a:gd name="adj" fmla="val 5634"/>
            </a:avLst>
          </a:prstGeom>
          <a:solidFill>
            <a:srgbClr val="E8E3F2"/>
          </a:solidFill>
          <a:ln w="12700">
            <a:solidFill>
              <a:srgbClr val="C8BD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54480" y="4224528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93F70"/>
                </a:solidFill>
              </a:rPr>
              <a:t>Then open  data/generated/source_attribution_reveal.tsv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536192" y="4663440"/>
            <a:ext cx="9052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72824"/>
                </a:solidFill>
              </a:rPr>
              <a:t>Compare your source call with the true label, the published model prediction and the generalist index.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2148840" y="5532120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766E"/>
                </a:solidFill>
              </a:rPr>
              <a:t>The interesting question is WHY the easy and hard cases differ.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A7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E766E"/>
                </a:solidFill>
              </a:rPr>
              <a:t>MOURKAS ET AL. 2024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824"/>
                </a:solidFill>
              </a:rPr>
              <a:t>Dataset 2 — now apply the logic to real wild-bird AMR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66E"/>
                </a:solidFill>
              </a:rPr>
              <a:t>700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89280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824"/>
                </a:solidFill>
              </a:rPr>
              <a:t>C. jejuni genomes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88920" y="132588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75B91"/>
                </a:solidFill>
              </a:rPr>
              <a:t>30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88920" y="18928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824"/>
                </a:solidFill>
              </a:rPr>
              <a:t>bird species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80560" y="1325880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6D8C"/>
                </a:solidFill>
              </a:rPr>
              <a:t>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480560" y="18928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824"/>
                </a:solidFill>
              </a:rPr>
              <a:t>countries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0" y="132588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24C48"/>
                </a:solidFill>
              </a:rPr>
              <a:t>~3×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943600" y="18928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824"/>
                </a:solidFill>
              </a:rPr>
              <a:t>genotypes + AMR genes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824"/>
                </a:solidFill>
              </a:rPr>
              <a:t>in urban-associated birds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098280" y="138988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0716C"/>
                </a:solidFill>
              </a:rPr>
              <a:t>Public assemblies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764792"/>
            <a:ext cx="2423160" cy="960120"/>
          </a:xfrm>
          <a:prstGeom prst="roundRect">
            <a:avLst>
              <a:gd name="adj" fmla="val 5714"/>
            </a:avLst>
          </a:prstGeom>
          <a:solidFill>
            <a:srgbClr val="E3EEDC"/>
          </a:solidFill>
          <a:ln w="15240">
            <a:solidFill>
              <a:srgbClr val="4E7B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89720" y="199339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7B57"/>
                </a:solidFill>
              </a:rPr>
              <a:t>Figshare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4E7B57"/>
                </a:solidFill>
              </a:rPr>
              <a:t>23631495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32688" y="36758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7B57"/>
                </a:solidFill>
              </a:rPr>
              <a:t>Rural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30368" y="36758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7918"/>
                </a:solidFill>
              </a:rPr>
              <a:t>Transitional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893808" y="36758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24C48"/>
                </a:solidFill>
              </a:rPr>
              <a:t>Urban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417320" y="4251960"/>
            <a:ext cx="9144000" cy="0"/>
          </a:xfrm>
          <a:prstGeom prst="line">
            <a:avLst/>
          </a:prstGeom>
          <a:noFill/>
          <a:ln w="63500">
            <a:solidFill>
              <a:srgbClr val="94A09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920240" y="4078224"/>
            <a:ext cx="347472" cy="347472"/>
          </a:xfrm>
          <a:prstGeom prst="ellipse">
            <a:avLst/>
          </a:prstGeom>
          <a:solidFill>
            <a:srgbClr val="4E7B57"/>
          </a:solidFill>
          <a:ln w="12700">
            <a:solidFill>
              <a:srgbClr val="4E7B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0" y="3694176"/>
            <a:ext cx="347472" cy="347472"/>
          </a:xfrm>
          <a:prstGeom prst="ellipse">
            <a:avLst/>
          </a:prstGeom>
          <a:solidFill>
            <a:srgbClr val="4E7B57"/>
          </a:solidFill>
          <a:ln w="12700">
            <a:solidFill>
              <a:srgbClr val="4E7B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0" y="4078224"/>
            <a:ext cx="347472" cy="347472"/>
          </a:xfrm>
          <a:prstGeom prst="ellipse">
            <a:avLst/>
          </a:prstGeom>
          <a:solidFill>
            <a:srgbClr val="4E7B57"/>
          </a:solidFill>
          <a:ln w="12700">
            <a:solidFill>
              <a:srgbClr val="4E7B5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3694176"/>
            <a:ext cx="347472" cy="347472"/>
          </a:xfrm>
          <a:prstGeom prst="ellipse">
            <a:avLst/>
          </a:prstGeom>
          <a:solidFill>
            <a:srgbClr val="B97918"/>
          </a:solidFill>
          <a:ln w="12700">
            <a:solidFill>
              <a:srgbClr val="B9791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4078224"/>
            <a:ext cx="347472" cy="347472"/>
          </a:xfrm>
          <a:prstGeom prst="ellipse">
            <a:avLst/>
          </a:prstGeom>
          <a:solidFill>
            <a:srgbClr val="B97918"/>
          </a:solidFill>
          <a:ln w="12700">
            <a:solidFill>
              <a:srgbClr val="B9791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0" y="3694176"/>
            <a:ext cx="347472" cy="347472"/>
          </a:xfrm>
          <a:prstGeom prst="ellipse">
            <a:avLst/>
          </a:prstGeom>
          <a:solidFill>
            <a:srgbClr val="B97918"/>
          </a:solidFill>
          <a:ln w="12700">
            <a:solidFill>
              <a:srgbClr val="B9791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0" y="4078224"/>
            <a:ext cx="347472" cy="347472"/>
          </a:xfrm>
          <a:prstGeom prst="ellipse">
            <a:avLst/>
          </a:prstGeom>
          <a:solidFill>
            <a:srgbClr val="B24C48"/>
          </a:solidFill>
          <a:ln w="12700">
            <a:solidFill>
              <a:srgbClr val="B24C4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9760" y="3694176"/>
            <a:ext cx="347472" cy="347472"/>
          </a:xfrm>
          <a:prstGeom prst="ellipse">
            <a:avLst/>
          </a:prstGeom>
          <a:solidFill>
            <a:srgbClr val="B24C48"/>
          </a:solidFill>
          <a:ln w="12700">
            <a:solidFill>
              <a:srgbClr val="B24C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00200" y="5102352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824"/>
                </a:solidFill>
              </a:rPr>
              <a:t>The key result is ecological association, not a claim that “wild birds cause AMR”.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03504" y="6254496"/>
            <a:ext cx="10561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i="1" dirty="0">
                <a:solidFill>
                  <a:srgbClr val="7A8581"/>
                </a:solidFill>
              </a:rPr>
              <a:t>Mourkas et al. Current Biology 2024, doi:10.1016/j.cub.2024.07.059; public assemblies doi:10.6084/m9.figshare.23631495.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A7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E766E"/>
                </a:solidFill>
              </a:rPr>
              <a:t>95–112 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824"/>
                </a:solidFill>
              </a:rPr>
              <a:t>Practical 4 — what pattern would distinguish strain movement from gene movement?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3493008" cy="3337560"/>
          </a:xfrm>
          <a:prstGeom prst="roundRect">
            <a:avLst>
              <a:gd name="adj" fmla="val 1644"/>
            </a:avLst>
          </a:prstGeom>
          <a:solidFill>
            <a:srgbClr val="F2DDDB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17320"/>
            <a:ext cx="64008" cy="3337560"/>
          </a:xfrm>
          <a:prstGeom prst="rect">
            <a:avLst/>
          </a:prstGeom>
          <a:solidFill>
            <a:srgbClr val="B24C48"/>
          </a:solidFill>
          <a:ln w="12700">
            <a:solidFill>
              <a:srgbClr val="B24C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727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824"/>
                </a:solidFill>
              </a:rPr>
              <a:t>1. Resistant strain moves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993392"/>
            <a:ext cx="318211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Same/very close genomic background carries the determinant across hosts or locations.</a:t>
            </a:r>
            <a:endParaRPr lang="en-US" sz="1160" dirty="0"/>
          </a:p>
          <a:p>
            <a:pPr indent="0" marL="0">
              <a:buNone/>
            </a:pP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Look for genome-wide relatedness + shared AMR context.</a:t>
            </a:r>
            <a:endParaRPr lang="en-US" sz="1160" dirty="0"/>
          </a:p>
        </p:txBody>
      </p:sp>
      <p:sp>
        <p:nvSpPr>
          <p:cNvPr id="8" name="Shape 6"/>
          <p:cNvSpPr/>
          <p:nvPr/>
        </p:nvSpPr>
        <p:spPr>
          <a:xfrm>
            <a:off x="4370832" y="1417320"/>
            <a:ext cx="3493008" cy="3337560"/>
          </a:xfrm>
          <a:prstGeom prst="roundRect">
            <a:avLst>
              <a:gd name="adj" fmla="val 1644"/>
            </a:avLst>
          </a:prstGeom>
          <a:solidFill>
            <a:srgbClr val="E8E3F2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1417320"/>
            <a:ext cx="64008" cy="3337560"/>
          </a:xfrm>
          <a:prstGeom prst="rect">
            <a:avLst/>
          </a:prstGeom>
          <a:solidFill>
            <a:srgbClr val="675B91"/>
          </a:solidFill>
          <a:ln w="12700">
            <a:solidFill>
              <a:srgbClr val="675B9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15727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824"/>
                </a:solidFill>
              </a:rPr>
              <a:t>2. Resistance gene moves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35424" y="1993392"/>
            <a:ext cx="318211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Same determinant/mobile element appears in unrelated genomic backgrounds.</a:t>
            </a:r>
            <a:endParaRPr lang="en-US" sz="1160" dirty="0"/>
          </a:p>
          <a:p>
            <a:pPr indent="0" marL="0">
              <a:buNone/>
            </a:pP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Long reads and plasmid/genetic context become critical.</a:t>
            </a:r>
            <a:endParaRPr lang="en-US" sz="1160" dirty="0"/>
          </a:p>
        </p:txBody>
      </p:sp>
      <p:sp>
        <p:nvSpPr>
          <p:cNvPr id="12" name="Shape 10"/>
          <p:cNvSpPr/>
          <p:nvPr/>
        </p:nvSpPr>
        <p:spPr>
          <a:xfrm>
            <a:off x="8083296" y="1417320"/>
            <a:ext cx="3493008" cy="3337560"/>
          </a:xfrm>
          <a:prstGeom prst="roundRect">
            <a:avLst>
              <a:gd name="adj" fmla="val 1644"/>
            </a:avLst>
          </a:prstGeom>
          <a:solidFill>
            <a:srgbClr val="F5E8CC"/>
          </a:solidFill>
          <a:ln w="12700">
            <a:solidFill>
              <a:srgbClr val="D7DD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83296" y="1417320"/>
            <a:ext cx="64008" cy="3337560"/>
          </a:xfrm>
          <a:prstGeom prst="rect">
            <a:avLst/>
          </a:prstGeom>
          <a:solidFill>
            <a:srgbClr val="B97918"/>
          </a:solidFill>
          <a:ln w="12700">
            <a:solidFill>
              <a:srgbClr val="B979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7888" y="15727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824"/>
                </a:solidFill>
              </a:rPr>
              <a:t>3. Repeated selection/exposure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47888" y="1993392"/>
            <a:ext cx="318211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Different lineages independently acquire/select resistance under similar ecological pressures.</a:t>
            </a:r>
            <a:endParaRPr lang="en-US" sz="1160" dirty="0"/>
          </a:p>
          <a:p>
            <a:pPr indent="0" marL="0">
              <a:buNone/>
            </a:pPr>
            <a:endParaRPr lang="en-US" sz="1160" dirty="0"/>
          </a:p>
          <a:p>
            <a:pPr indent="0" marL="0">
              <a:buNone/>
            </a:pPr>
            <a:r>
              <a:rPr lang="en-US" sz="1160" dirty="0">
                <a:solidFill>
                  <a:srgbClr val="60716C"/>
                </a:solidFill>
              </a:rPr>
              <a:t>Needs exposure + temporal/ecological data.</a:t>
            </a:r>
            <a:endParaRPr lang="en-US" sz="1160" dirty="0"/>
          </a:p>
        </p:txBody>
      </p:sp>
      <p:sp>
        <p:nvSpPr>
          <p:cNvPr id="16" name="Text 14"/>
          <p:cNvSpPr/>
          <p:nvPr/>
        </p:nvSpPr>
        <p:spPr>
          <a:xfrm>
            <a:off x="1417320" y="5193792"/>
            <a:ext cx="9372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766E"/>
                </a:solidFill>
              </a:rPr>
              <a:t>Choose three extra datasets that would most cleanly separate these explanations.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920240" y="5650992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DDEEEA"/>
          </a:solidFill>
          <a:ln w="12700">
            <a:solidFill>
              <a:srgbClr val="DDEE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84248" y="5724144"/>
            <a:ext cx="1197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5D56"/>
                </a:solidFill>
              </a:rPr>
              <a:t>long reads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47288" y="5650992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DDEAF2"/>
          </a:solidFill>
          <a:ln w="12700">
            <a:solidFill>
              <a:srgbClr val="DDEA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11296" y="5724144"/>
            <a:ext cx="1380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5F78"/>
                </a:solidFill>
              </a:rPr>
              <a:t>water / sewage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66360" y="5650992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F5E8CC"/>
          </a:solidFill>
          <a:ln w="12700">
            <a:solidFill>
              <a:srgbClr val="F5E8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30368" y="5724144"/>
            <a:ext cx="1060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8480E"/>
                </a:solidFill>
              </a:rPr>
              <a:t>livestock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65392" y="5650992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E8E3F2"/>
          </a:solidFill>
          <a:ln w="12700">
            <a:solidFill>
              <a:srgbClr val="E8E3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5724144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93F70"/>
                </a:solidFill>
              </a:rPr>
              <a:t>time series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65008" y="5650992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E3EEDC"/>
          </a:solidFill>
          <a:ln w="12700">
            <a:solidFill>
              <a:srgbClr val="E3EE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29016" y="5724144"/>
            <a:ext cx="1563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15D3A"/>
                </a:solidFill>
              </a:rPr>
              <a:t>movement ecology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A7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E766E"/>
                </a:solidFill>
              </a:rPr>
              <a:t>TAKE-HOME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3093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824"/>
                </a:solidFill>
              </a:rPr>
              <a:t>Finish with the strength of the inference, not the name of the software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2468880" cy="1143000"/>
          </a:xfrm>
          <a:prstGeom prst="roundRect">
            <a:avLst>
              <a:gd name="adj" fmla="val 4800"/>
            </a:avLst>
          </a:prstGeom>
          <a:solidFill>
            <a:srgbClr val="0E766E">
              <a:alpha val="20000"/>
            </a:srgbClr>
          </a:solidFill>
          <a:ln w="17780">
            <a:solidFill>
              <a:srgbClr val="0E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700784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66E"/>
                </a:solidFill>
              </a:rPr>
              <a:t>IDENTITY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58952" y="205740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824"/>
                </a:solidFill>
              </a:rPr>
              <a:t>What is it?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081528" y="2057400"/>
            <a:ext cx="347472" cy="0"/>
          </a:xfrm>
          <a:prstGeom prst="line">
            <a:avLst/>
          </a:prstGeom>
          <a:noFill/>
          <a:ln w="25400">
            <a:solidFill>
              <a:srgbClr val="98A49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47288" y="1481328"/>
            <a:ext cx="2468880" cy="1143000"/>
          </a:xfrm>
          <a:prstGeom prst="roundRect">
            <a:avLst>
              <a:gd name="adj" fmla="val 4800"/>
            </a:avLst>
          </a:prstGeom>
          <a:solidFill>
            <a:srgbClr val="386D8C">
              <a:alpha val="20000"/>
            </a:srgbClr>
          </a:solidFill>
          <a:ln w="17780">
            <a:solidFill>
              <a:srgbClr val="386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700784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6D8C"/>
                </a:solidFill>
              </a:rPr>
              <a:t>RELATEDNESS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11880" y="205740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824"/>
                </a:solidFill>
              </a:rPr>
              <a:t>What is it close to?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34456" y="2057400"/>
            <a:ext cx="347472" cy="0"/>
          </a:xfrm>
          <a:prstGeom prst="line">
            <a:avLst/>
          </a:prstGeom>
          <a:noFill/>
          <a:ln w="25400">
            <a:solidFill>
              <a:srgbClr val="98A49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300216" y="1481328"/>
            <a:ext cx="2468880" cy="1143000"/>
          </a:xfrm>
          <a:prstGeom prst="roundRect">
            <a:avLst>
              <a:gd name="adj" fmla="val 4800"/>
            </a:avLst>
          </a:prstGeom>
          <a:solidFill>
            <a:srgbClr val="675B91">
              <a:alpha val="20000"/>
            </a:srgbClr>
          </a:solidFill>
          <a:ln w="17780">
            <a:solidFill>
              <a:srgbClr val="675B9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64808" y="1700784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75B91"/>
                </a:solidFill>
              </a:rPr>
              <a:t>ASSOCIATION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64808" y="205740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824"/>
                </a:solidFill>
              </a:rPr>
              <a:t>Which ecology/source does it resemble?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787384" y="2057400"/>
            <a:ext cx="347472" cy="0"/>
          </a:xfrm>
          <a:prstGeom prst="line">
            <a:avLst/>
          </a:prstGeom>
          <a:noFill/>
          <a:ln w="25400">
            <a:solidFill>
              <a:srgbClr val="98A49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153144" y="1481328"/>
            <a:ext cx="2468880" cy="1143000"/>
          </a:xfrm>
          <a:prstGeom prst="roundRect">
            <a:avLst>
              <a:gd name="adj" fmla="val 4800"/>
            </a:avLst>
          </a:prstGeom>
          <a:solidFill>
            <a:srgbClr val="B97918">
              <a:alpha val="20000"/>
            </a:srgbClr>
          </a:solidFill>
          <a:ln w="17780">
            <a:solidFill>
              <a:srgbClr val="B979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17736" y="1700784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7918"/>
                </a:solidFill>
              </a:rPr>
              <a:t>HYPOTHESIS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17736" y="205740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824"/>
                </a:solidFill>
              </a:rPr>
              <a:t>What transmission process could explain it?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143000" y="3246120"/>
            <a:ext cx="9921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81328" y="3520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716C"/>
                </a:solidFill>
              </a:rPr>
              <a:t>A good answer sounds like: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520440" y="3438144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2824"/>
                </a:solidFill>
              </a:rPr>
              <a:t>“This genome is most consistent with ___, with ___ confidence, because ___.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72824"/>
                </a:solidFill>
              </a:rPr>
              <a:t>It supports ___, but it does not demonstrate ___.”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17320" y="52120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66E"/>
                </a:solidFill>
              </a:rPr>
              <a:t>Genomes sharpen hypotheses. Ecology, metadata and sampling design decide how far we can trust them.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28816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A77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University of Oxford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a Campylobacter genome to an ecological story</dc:title>
  <dc:subject>Public-data Campylobacter workshop: PubMLST, population genomics, source attribution and wild-bird AMR</dc:subject>
  <dc:creator>Ben Pascoe</dc:creator>
  <cp:lastModifiedBy>Ben Pascoe</cp:lastModifiedBy>
  <cp:revision>1</cp:revision>
  <dcterms:created xsi:type="dcterms:W3CDTF">2026-09-14T09:59:56Z</dcterms:created>
  <dcterms:modified xsi:type="dcterms:W3CDTF">2026-09-14T09:59:56Z</dcterms:modified>
</cp:coreProperties>
</file>