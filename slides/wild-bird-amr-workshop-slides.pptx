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DD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Hungary workshop | Wild-bird AMR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8366760" y="0"/>
            <a:ext cx="3749040" cy="3154680"/>
          </a:xfrm>
          <a:prstGeom prst="arc">
            <a:avLst/>
          </a:prstGeom>
          <a:solidFill>
            <a:srgbClr val="16433E">
              <a:alpha val="90000"/>
            </a:srgbClr>
          </a:solidFill>
          <a:ln w="12700">
            <a:solidFill>
              <a:srgbClr val="1643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3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WILD-BIRD GENOME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 epidemiological story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85800" y="19385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PubMLST • population structure • source attribution • AMR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6E1F0"/>
          </a:solidFill>
          <a:ln w="12700">
            <a:solidFill>
              <a:srgbClr val="E6E1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857500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3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minutes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278892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4E8CC"/>
          </a:solidFill>
          <a:ln w="12700">
            <a:solidFill>
              <a:srgbClr val="F4E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857500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4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7889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DCEEEB"/>
          </a:solidFill>
          <a:ln w="12700">
            <a:solidFill>
              <a:srgbClr val="DCE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857500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mystery genomes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C9BE"/>
                </a:solidFill>
              </a:rPr>
              <a:t>Opening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315968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“We cultured C. jejuni from a wild bird.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Does that make it a wild-bird strain?”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FCA"/>
                </a:solidFill>
              </a:rPr>
              <a:t>Ben Pascoe | Hungary workshop |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is one connected investigation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658368" cy="658368"/>
          </a:xfrm>
          <a:prstGeom prst="ellipse">
            <a:avLst/>
          </a:prstGeom>
          <a:solidFill>
            <a:srgbClr val="DCEEEB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73352" y="2157984"/>
            <a:ext cx="713232" cy="0"/>
          </a:xfrm>
          <a:prstGeom prst="line">
            <a:avLst/>
          </a:prstGeom>
          <a:noFill/>
          <a:ln w="25400">
            <a:solidFill>
              <a:srgbClr val="AAB5B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What is it?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MLST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828800"/>
            <a:ext cx="658368" cy="658368"/>
          </a:xfrm>
          <a:prstGeom prst="ellipse">
            <a:avLst/>
          </a:prstGeom>
          <a:solidFill>
            <a:srgbClr val="DCEEEB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47872" y="2157984"/>
            <a:ext cx="713232" cy="0"/>
          </a:xfrm>
          <a:prstGeom prst="line">
            <a:avLst/>
          </a:prstGeom>
          <a:noFill/>
          <a:ln w="25400">
            <a:solidFill>
              <a:srgbClr val="AAB5B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42316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What lineage?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ST / CC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658368" cy="658368"/>
          </a:xfrm>
          <a:prstGeom prst="ellipse">
            <a:avLst/>
          </a:prstGeom>
          <a:solidFill>
            <a:srgbClr val="DCEEEB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22392" y="2157984"/>
            <a:ext cx="713232" cy="0"/>
          </a:xfrm>
          <a:prstGeom prst="line">
            <a:avLst/>
          </a:prstGeom>
          <a:noFill/>
          <a:ln w="25400">
            <a:solidFill>
              <a:srgbClr val="AAB5B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9768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Related to what?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Genome Comparator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828800"/>
            <a:ext cx="658368" cy="658368"/>
          </a:xfrm>
          <a:prstGeom prst="ellipse">
            <a:avLst/>
          </a:prstGeom>
          <a:solidFill>
            <a:srgbClr val="F4E8CC"/>
          </a:solidFill>
          <a:ln w="16510">
            <a:solidFill>
              <a:srgbClr val="C58A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96912" y="2157984"/>
            <a:ext cx="713232" cy="0"/>
          </a:xfrm>
          <a:prstGeom prst="line">
            <a:avLst/>
          </a:prstGeom>
          <a:noFill/>
          <a:ln w="25400">
            <a:solidFill>
              <a:srgbClr val="AAB5B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17220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What source?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Attribution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1828800"/>
            <a:ext cx="658368" cy="658368"/>
          </a:xfrm>
          <a:prstGeom prst="ellipse">
            <a:avLst/>
          </a:prstGeom>
          <a:solidFill>
            <a:srgbClr val="F4E8CC"/>
          </a:solidFill>
          <a:ln w="16510">
            <a:solidFill>
              <a:srgbClr val="C58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71432" y="2157984"/>
            <a:ext cx="713232" cy="0"/>
          </a:xfrm>
          <a:prstGeom prst="line">
            <a:avLst/>
          </a:prstGeom>
          <a:noFill/>
          <a:ln w="25400">
            <a:solidFill>
              <a:srgbClr val="AAB5B0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04672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What AMR?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Resistance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78440" y="1828800"/>
            <a:ext cx="658368" cy="658368"/>
          </a:xfrm>
          <a:prstGeom prst="ellipse">
            <a:avLst/>
          </a:prstGeom>
          <a:solidFill>
            <a:srgbClr val="E6E1F0"/>
          </a:solidFill>
          <a:ln w="16510">
            <a:solidFill>
              <a:srgbClr val="665A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2124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724"/>
                </a:solidFill>
              </a:rPr>
              <a:t>How sure?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21240" y="30906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Uncertainty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97280" y="425196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4988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The aim is not to learn which buttons to click.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0" y="4480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It is to decide what level of inference the genome actually supports.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the livestock–wildlife interface in Sweden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724"/>
                </a:solidFill>
              </a:rPr>
              <a:t>561 C. jejuni genomes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6D"/>
                </a:solidFill>
              </a:rPr>
              <a:t>Five ecological groups give us a built-in comparison between agriculture and a non-agricultural wild-bird population.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3789584"/>
            <a:ext cx="713232" cy="645256"/>
          </a:xfrm>
          <a:prstGeom prst="roundRect">
            <a:avLst>
              <a:gd name="adj" fmla="val 5668"/>
            </a:avLst>
          </a:prstGeom>
          <a:solidFill>
            <a:srgbClr val="F4E8CC"/>
          </a:solidFill>
          <a:ln w="15240">
            <a:solidFill>
              <a:srgbClr val="C58A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35426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8A26"/>
                </a:solidFill>
              </a:rPr>
              <a:t>68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46177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Conventional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chicken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3239219"/>
            <a:ext cx="713232" cy="1195621"/>
          </a:xfrm>
          <a:prstGeom prst="roundRect">
            <a:avLst>
              <a:gd name="adj" fmla="val 5128"/>
            </a:avLst>
          </a:prstGeom>
          <a:solidFill>
            <a:srgbClr val="EAD7B5"/>
          </a:solidFill>
          <a:ln w="15240">
            <a:solidFill>
              <a:srgbClr val="C58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2992331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8A26"/>
                </a:solidFill>
              </a:rPr>
              <a:t>126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46177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Organic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chicken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4292504"/>
            <a:ext cx="713232" cy="142336"/>
          </a:xfrm>
          <a:prstGeom prst="roundRect">
            <a:avLst>
              <a:gd name="adj" fmla="val 25697"/>
            </a:avLst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0456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46177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Ruminant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49640" y="3609292"/>
            <a:ext cx="713232" cy="825548"/>
          </a:xfrm>
          <a:prstGeom prst="roundRect">
            <a:avLst>
              <a:gd name="adj" fmla="val 5128"/>
            </a:avLst>
          </a:prstGeom>
          <a:solidFill>
            <a:srgbClr val="F3DDDA"/>
          </a:solidFill>
          <a:ln w="15240">
            <a:solidFill>
              <a:srgbClr val="B64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33624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4C48"/>
                </a:solidFill>
              </a:rPr>
              <a:t>87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46177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Wild bird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near farm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66960" y="1920240"/>
            <a:ext cx="713232" cy="2514600"/>
          </a:xfrm>
          <a:prstGeom prst="roundRect">
            <a:avLst>
              <a:gd name="adj" fmla="val 5128"/>
            </a:avLst>
          </a:prstGeom>
          <a:solidFill>
            <a:srgbClr val="E6E1F0"/>
          </a:solidFill>
          <a:ln w="15240">
            <a:solidFill>
              <a:srgbClr val="665A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16733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5A93"/>
                </a:solidFill>
              </a:rPr>
              <a:t>265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0" y="461772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Wild bird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24"/>
                </a:solidFill>
              </a:rPr>
              <a:t>Ottenby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Why this dataset works for teaching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187952"/>
            <a:ext cx="31089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host-sharing STs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cross-host genome pairs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farm-proximity AMR signal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metadata and manuscript: 561 genomes; BioProject PRJNA1450089.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mystery genomes — all recovered from wild birds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4008" cy="274320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it sit?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16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“wild bird isolate” = “wild-bird lineage”.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AFAF7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64008" cy="2743200"/>
          </a:xfrm>
          <a:prstGeom prst="rect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58191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Generalist or specialist?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9312" y="1984248"/>
            <a:ext cx="216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recognise a lineage that moves among hosts?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41732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1417320"/>
            <a:ext cx="64008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58191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C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a farm ≠ farm lineage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664" y="1984248"/>
            <a:ext cx="216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Ecology and bacterial ancestry are different variables.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141732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AFAF7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1417320"/>
            <a:ext cx="64008" cy="274320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58191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type, shared transmission?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2016" y="1984248"/>
            <a:ext cx="216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can seven-locus MLST take us?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508760" y="4681728"/>
            <a:ext cx="9144000" cy="841248"/>
          </a:xfrm>
          <a:prstGeom prst="roundRect">
            <a:avLst>
              <a:gd name="adj" fmla="val 8696"/>
            </a:avLst>
          </a:prstGeom>
          <a:solidFill>
            <a:srgbClr val="DCEEEB"/>
          </a:solidFill>
          <a:ln w="12700">
            <a:solidFill>
              <a:srgbClr val="B8D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4956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C55"/>
                </a:solidFill>
              </a:rPr>
              <a:t>Rule for the next 90 minutes: predict first, reveal second.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PUBMLST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PubMLST is two linked ideas, not just a website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800600" cy="3474720"/>
          </a:xfrm>
          <a:prstGeom prst="roundRect">
            <a:avLst>
              <a:gd name="adj" fmla="val 2105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3474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27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Definitions / nomenclature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029968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Allele definitions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 profiles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types (STs)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Clonal complexes / schemes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language for describing variation.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463040"/>
            <a:ext cx="4800600" cy="3474720"/>
          </a:xfrm>
          <a:prstGeom prst="roundRect">
            <a:avLst>
              <a:gd name="adj" fmla="val 2105"/>
            </a:avLst>
          </a:prstGeom>
          <a:solidFill>
            <a:srgbClr val="E6E1F0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463040"/>
            <a:ext cx="64008" cy="347472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27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Isolates / genomes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02552" y="2029968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assemblies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and source metadata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and 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context for those lineage names.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15000" y="2560320"/>
            <a:ext cx="566928" cy="1143000"/>
          </a:xfrm>
          <a:prstGeom prst="chevron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9809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53218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724"/>
                </a:solidFill>
              </a:rPr>
              <a:t>As of Sep 2026: &gt;158k C. jejuni/coli isolate records and &gt;107k genomes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PubMLST Campylobacter jejuni/coli page, accessed Sep 2026.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 IN 60 SECONDS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 compresses sequence into a portable lineage name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EDF1ED"/>
          </a:solidFill>
          <a:ln w="12700">
            <a:solidFill>
              <a:srgbClr val="B7C2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aspA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65376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DCEEE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glnA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65376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17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72384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EDF1ED"/>
          </a:solidFill>
          <a:ln w="12700">
            <a:solidFill>
              <a:srgbClr val="B7C2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gltA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72384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79392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DCEEE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glyA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79392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0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EDF1ED"/>
          </a:solidFill>
          <a:ln w="12700">
            <a:solidFill>
              <a:srgbClr val="B7C2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pgm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93408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DCEEE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tkt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3408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00416" y="169164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EDF1ED"/>
          </a:solidFill>
          <a:ln w="12700">
            <a:solidFill>
              <a:srgbClr val="B7C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0416" y="1856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uncA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0416" y="25146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16D"/>
                </a:solidFill>
              </a:rPr>
              <a:t>allele numbers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1920240"/>
            <a:ext cx="1143000" cy="475488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057400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424160" y="164592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4E8CC"/>
          </a:solidFill>
          <a:ln w="15240">
            <a:solidFill>
              <a:srgbClr val="C58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18288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16D"/>
                </a:solidFill>
              </a:rPr>
              <a:t>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24160" y="2084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2724"/>
                </a:solidFill>
              </a:rPr>
              <a:t>45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0972800" y="2542032"/>
            <a:ext cx="0" cy="658368"/>
          </a:xfrm>
          <a:prstGeom prst="line">
            <a:avLst/>
          </a:prstGeom>
          <a:noFill/>
          <a:ln w="19050">
            <a:solidFill>
              <a:srgbClr val="C58A2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469880" y="33375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8A26"/>
                </a:solidFill>
              </a:rPr>
              <a:t>CC45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34440" y="416052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724"/>
                </a:solidFill>
              </a:rPr>
              <a:t>Useful — but seven loci are a tiny summary of a whole genome.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828800" y="4919472"/>
            <a:ext cx="8503920" cy="576072"/>
          </a:xfrm>
          <a:prstGeom prst="roundRect">
            <a:avLst>
              <a:gd name="adj" fmla="val 9524"/>
            </a:avLst>
          </a:prstGeom>
          <a:solidFill>
            <a:srgbClr val="F3DDDA"/>
          </a:solidFill>
          <a:ln w="12700">
            <a:solidFill>
              <a:srgbClr val="E2BA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50932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23833"/>
                </a:solidFill>
              </a:rPr>
              <a:t>Same ST/CC ≠ same outbreak ≠ direct transmission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1 — type a whole genome in PubMLST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64792" y="1901952"/>
            <a:ext cx="685800" cy="0"/>
          </a:xfrm>
          <a:prstGeom prst="line">
            <a:avLst/>
          </a:prstGeom>
          <a:noFill/>
          <a:ln w="19050">
            <a:solidFill>
              <a:srgbClr val="A9B5B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Open sequence-definition DB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99232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66744" y="1901952"/>
            <a:ext cx="685800" cy="0"/>
          </a:xfrm>
          <a:prstGeom prst="line">
            <a:avLst/>
          </a:prstGeom>
          <a:noFill/>
          <a:ln w="19050">
            <a:solidFill>
              <a:srgbClr val="A9B5B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542032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Single sequence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01184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68696" y="1901952"/>
            <a:ext cx="685800" cy="0"/>
          </a:xfrm>
          <a:prstGeom prst="line">
            <a:avLst/>
          </a:prstGeom>
          <a:noFill/>
          <a:ln w="19050">
            <a:solidFill>
              <a:srgbClr val="A9B5B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443984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Upload FASTA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03136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70648" y="1901952"/>
            <a:ext cx="685800" cy="0"/>
          </a:xfrm>
          <a:prstGeom prst="line">
            <a:avLst/>
          </a:prstGeom>
          <a:noFill/>
          <a:ln w="19050">
            <a:solidFill>
              <a:srgbClr val="A9B5B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45936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Choose MLST scheme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05088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72600" y="1901952"/>
            <a:ext cx="685800" cy="0"/>
          </a:xfrm>
          <a:prstGeom prst="line">
            <a:avLst/>
          </a:prstGeom>
          <a:noFill/>
          <a:ln w="19050">
            <a:solidFill>
              <a:srgbClr val="A9B5B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47888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Submit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607040" y="1572768"/>
            <a:ext cx="658368" cy="658368"/>
          </a:xfrm>
          <a:prstGeom prst="ellipse">
            <a:avLst/>
          </a:prstGeom>
          <a:solidFill>
            <a:srgbClr val="DCEEEB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0" y="17556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49840" y="2487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724"/>
                </a:solidFill>
              </a:rPr>
              <a:t>Record ST + CC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234440" y="3429000"/>
            <a:ext cx="9738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Record for A–D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36192" y="41148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724"/>
                </a:solidFill>
              </a:rPr>
              <a:t>7 allele numbers   •   ST   •   clonal complex   •   anything unexpected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536192" y="462686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Whole-genome uploads can be multi-contig FASTA files.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BIGSdb 1.54 sequence-query documentation: whole genomes can be uploaded and checked against all loci in a selected scheme.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TYPING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reveal: the lineage labels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F1F4F1"/>
          </a:solidFill>
          <a:ln w="12700">
            <a:solidFill>
              <a:srgbClr val="E0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36192"/>
            <a:ext cx="502920" cy="502920"/>
          </a:xfrm>
          <a:prstGeom prst="ellipse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73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618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ST1347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37560" y="1618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CC1347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16276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6D"/>
                </a:solidFill>
              </a:rPr>
              <a:t>Contrasting wild-bird lineage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404872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523744"/>
            <a:ext cx="502920" cy="502920"/>
          </a:xfrm>
          <a:prstGeom prst="ellipse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60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ST45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CC45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61518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6D"/>
                </a:solidFill>
              </a:rPr>
              <a:t>Generalist warning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392424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F1F4F1"/>
          </a:solidFill>
          <a:ln w="12700">
            <a:solidFill>
              <a:srgbClr val="E0E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11296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648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ST686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37560" y="3593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CC682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360273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6D"/>
                </a:solidFill>
              </a:rPr>
              <a:t>Different near-farm lineage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379976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0E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498848"/>
            <a:ext cx="502920" cy="502920"/>
          </a:xfrm>
          <a:prstGeom prst="ellipse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360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4581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ST1525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37560" y="4581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Unassigned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459028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6D"/>
                </a:solidFill>
              </a:rPr>
              <a:t>Shared ST across host groups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5532120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724"/>
                </a:solidFill>
              </a:rPr>
              <a:t>Question: what extra evidence do we need before turning these labels into ecological claims?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tree already hints at specialists and generalists</a:t>
            </a:r>
            <a:endParaRPr lang="en-US" sz="2700" dirty="0"/>
          </a:p>
        </p:txBody>
      </p:sp>
      <p:pic>
        <p:nvPicPr>
          <p:cNvPr id="4" name="Image 0" descr="/mnt/data/wild-bird-amr-workshop/assets/project_population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4980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58200" y="141732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22792" y="1581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mixing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792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colours from different ecological groups occupy the same lineage?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58200" y="288036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6E1F0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58200" y="2880360"/>
            <a:ext cx="64008" cy="123444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22792" y="3044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separation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22792" y="34472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some wild-bird lineages largely outside poultry-associated clusters?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58200" y="434340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4E8CC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0" y="4343400"/>
            <a:ext cx="64008" cy="123444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22792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 why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22792" y="4910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adaptation, exposure, movement, sampling — or some combination?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Figure 1 (user-provided manuscript materials).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45–70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2 — move from seven loci to the genome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337560" cy="3337560"/>
          </a:xfrm>
          <a:prstGeom prst="roundRect">
            <a:avLst>
              <a:gd name="adj" fmla="val 2192"/>
            </a:avLst>
          </a:prstGeom>
          <a:solidFill>
            <a:srgbClr val="E6E1F0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64008" cy="333756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Search the isolate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938528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hosts/sources appear?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the lineage narrow or broad?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complete is the metadata?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mistake submission frequency for prevalence.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337560" cy="3337560"/>
          </a:xfrm>
          <a:prstGeom prst="roundRect">
            <a:avLst>
              <a:gd name="adj" fmla="val 2192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71600"/>
            <a:ext cx="64008" cy="3337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Genome Comparator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938528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A–D as a ZIP.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high-resolution defined-locus scheme.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variable loci, allelic distances and NeighborNet.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371600"/>
            <a:ext cx="3337560" cy="3337560"/>
          </a:xfrm>
          <a:prstGeom prst="roundRect">
            <a:avLst>
              <a:gd name="adj" fmla="val 2192"/>
            </a:avLst>
          </a:prstGeom>
          <a:solidFill>
            <a:srgbClr val="F4E8CC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71600"/>
            <a:ext cx="64008" cy="333756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Interpret — carefully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938528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whole-genome structure agree with MLST?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the outlier?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“close” establish direction or route of transmission? 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48840" y="5138928"/>
            <a:ext cx="7955280" cy="548640"/>
          </a:xfrm>
          <a:prstGeom prst="roundRect">
            <a:avLst>
              <a:gd name="adj" fmla="val 8333"/>
            </a:avLst>
          </a:prstGeom>
          <a:solidFill>
            <a:srgbClr val="F3DDDA"/>
          </a:solidFill>
          <a:ln w="12700">
            <a:solidFill>
              <a:srgbClr val="E2B9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53035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13832"/>
                </a:solidFill>
              </a:rPr>
              <a:t>Distance = allelic differences. It is not a universal “number of transmission events”.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BIGSdb Genome Comparator documentation: accepts one FASTA or a ZIP containing multiple FASTA genomes.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RELATEDNESS ≠ TRANSMISSION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 genomic pair is powerful evidence — but not the whole causal story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011680" y="1965960"/>
            <a:ext cx="1325880" cy="914400"/>
          </a:xfrm>
          <a:prstGeom prst="ellipse">
            <a:avLst/>
          </a:prstGeom>
          <a:solidFill>
            <a:srgbClr val="C58A26">
              <a:alpha val="30000"/>
            </a:srgbClr>
          </a:solidFill>
          <a:ln w="25400">
            <a:solidFill>
              <a:srgbClr val="C58A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21408" y="21762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Chicken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farm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417320"/>
            <a:ext cx="1325880" cy="914400"/>
          </a:xfrm>
          <a:prstGeom prst="ellipse">
            <a:avLst/>
          </a:prstGeom>
          <a:solidFill>
            <a:srgbClr val="B64C48">
              <a:alpha val="30000"/>
            </a:srgbClr>
          </a:solidFill>
          <a:ln w="25400">
            <a:solidFill>
              <a:srgbClr val="B64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Wild bird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farm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1325880" cy="914400"/>
          </a:xfrm>
          <a:prstGeom prst="ellipse">
            <a:avLst/>
          </a:prstGeom>
          <a:solidFill>
            <a:srgbClr val="B64C48">
              <a:alpha val="30000"/>
            </a:srgbClr>
          </a:solidFill>
          <a:ln w="25400">
            <a:solidFill>
              <a:srgbClr val="B64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4928" y="2542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Wild bird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farm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4160520"/>
            <a:ext cx="1325880" cy="914400"/>
          </a:xfrm>
          <a:prstGeom prst="ellipse">
            <a:avLst/>
          </a:prstGeom>
          <a:solidFill>
            <a:srgbClr val="0F766E">
              <a:alpha val="30000"/>
            </a:srgbClr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43708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Environment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unsampled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4114800"/>
            <a:ext cx="1325880" cy="914400"/>
          </a:xfrm>
          <a:prstGeom prst="ellipse">
            <a:avLst/>
          </a:prstGeom>
          <a:solidFill>
            <a:srgbClr val="665A93">
              <a:alpha val="30000"/>
            </a:srgbClr>
          </a:solidFill>
          <a:ln w="25400">
            <a:solidFill>
              <a:srgbClr val="665A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0808" y="4325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Other host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2724"/>
                </a:solidFill>
              </a:rPr>
              <a:t>unsampled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331720"/>
            <a:ext cx="1417320" cy="-320040"/>
          </a:xfrm>
          <a:prstGeom prst="line">
            <a:avLst/>
          </a:prstGeom>
          <a:noFill/>
          <a:ln w="25400">
            <a:solidFill>
              <a:srgbClr val="A8B2A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1828800"/>
            <a:ext cx="1371600" cy="548640"/>
          </a:xfrm>
          <a:prstGeom prst="line">
            <a:avLst/>
          </a:prstGeom>
          <a:noFill/>
          <a:ln w="25400">
            <a:solidFill>
              <a:srgbClr val="A8B2A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40680" y="2743200"/>
            <a:ext cx="91440" cy="1371600"/>
          </a:xfrm>
          <a:prstGeom prst="line">
            <a:avLst/>
          </a:prstGeom>
          <a:noFill/>
          <a:ln w="25400">
            <a:solidFill>
              <a:srgbClr val="A8B2A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4389120"/>
            <a:ext cx="2286000" cy="0"/>
          </a:xfrm>
          <a:prstGeom prst="line">
            <a:avLst/>
          </a:prstGeom>
          <a:noFill/>
          <a:ln w="25400">
            <a:solidFill>
              <a:srgbClr val="A8B2A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Same or very similar genome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154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724"/>
                </a:solidFill>
              </a:rPr>
              <a:t>Possible explanations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584448"/>
            <a:ext cx="13716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transfer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source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unsampled intermediate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persistence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20240" y="5376672"/>
            <a:ext cx="8869680" cy="438912"/>
          </a:xfrm>
          <a:prstGeom prst="roundRect">
            <a:avLst>
              <a:gd name="adj" fmla="val 8333"/>
            </a:avLst>
          </a:prstGeom>
          <a:solidFill>
            <a:srgbClr val="DCEEEB"/>
          </a:solidFill>
          <a:ln w="12700">
            <a:solidFill>
              <a:srgbClr val="B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5046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C55"/>
                </a:solidFill>
              </a:rPr>
              <a:t>Genome data sharpen the transmission hypothesis; epidemiology tests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 turns population structure into probabilities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C58A26">
              <a:alpha val="25000"/>
            </a:srgbClr>
          </a:solidFill>
          <a:ln w="17780">
            <a:solidFill>
              <a:srgbClr val="C58A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Poultry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965960"/>
            <a:ext cx="1463040" cy="1005840"/>
          </a:xfrm>
          <a:prstGeom prst="line">
            <a:avLst/>
          </a:prstGeom>
          <a:noFill/>
          <a:ln w="15240">
            <a:solidFill>
              <a:srgbClr val="AAB5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889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0F766E">
              <a:alpha val="25000"/>
            </a:srgbClr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Ruminant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1463040" cy="-182880"/>
          </a:xfrm>
          <a:prstGeom prst="line">
            <a:avLst/>
          </a:prstGeom>
          <a:noFill/>
          <a:ln w="15240">
            <a:solidFill>
              <a:srgbClr val="AAB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97764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665A93">
              <a:alpha val="25000"/>
            </a:srgbClr>
          </a:solidFill>
          <a:ln w="17780">
            <a:solidFill>
              <a:srgbClr val="665A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Wild bird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4343400"/>
            <a:ext cx="1463040" cy="-1371600"/>
          </a:xfrm>
          <a:prstGeom prst="line">
            <a:avLst/>
          </a:prstGeom>
          <a:noFill/>
          <a:ln w="15240">
            <a:solidFill>
              <a:srgbClr val="AAB5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3317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DCEEEB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TRAIN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classifier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1143000" cy="0"/>
          </a:xfrm>
          <a:prstGeom prst="line">
            <a:avLst/>
          </a:prstGeom>
          <a:noFill/>
          <a:ln w="25400">
            <a:solidFill>
              <a:srgbClr val="88979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3DDDA"/>
          </a:solidFill>
          <a:ln w="17780">
            <a:solidFill>
              <a:srgbClr val="B64C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6883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Mystery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2724"/>
                </a:solidFill>
              </a:rPr>
              <a:t>genome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17152" y="2971800"/>
            <a:ext cx="777240" cy="0"/>
          </a:xfrm>
          <a:prstGeom prst="line">
            <a:avLst/>
          </a:prstGeom>
          <a:noFill/>
          <a:ln w="25400">
            <a:solidFill>
              <a:srgbClr val="88979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0" y="1572768"/>
            <a:ext cx="1325880" cy="2788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04704" y="18288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724"/>
                </a:solidFill>
              </a:rPr>
              <a:t>Poultry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4704" y="2066544"/>
            <a:ext cx="447690" cy="164592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4704" y="227685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6D"/>
                </a:solidFill>
              </a:rPr>
              <a:t>48%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04704" y="26151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724"/>
                </a:solidFill>
              </a:rPr>
              <a:t>Ruminant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204704" y="2852928"/>
            <a:ext cx="111923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04704" y="306324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6D"/>
                </a:solidFill>
              </a:rPr>
              <a:t>12%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04704" y="3401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724"/>
                </a:solidFill>
              </a:rPr>
              <a:t>Wild bird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204704" y="3639312"/>
            <a:ext cx="373075" cy="164592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04704" y="384962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16D"/>
                </a:solidFill>
              </a:rPr>
              <a:t>40%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12680" y="4498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2716D"/>
                </a:solidFill>
              </a:rPr>
              <a:t>Illustrative probabilities only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54480" y="5074920"/>
            <a:ext cx="9006840" cy="658368"/>
          </a:xfrm>
          <a:prstGeom prst="roundRect">
            <a:avLst>
              <a:gd name="adj" fmla="val 6944"/>
            </a:avLst>
          </a:prstGeom>
          <a:solidFill>
            <a:srgbClr val="F4E8CC"/>
          </a:solidFill>
          <a:ln w="12700">
            <a:solidFill>
              <a:srgbClr val="E3C9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5221224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5480F"/>
                </a:solidFill>
              </a:rPr>
              <a:t>The model answers: “Which sampled source population does this genome resemble?”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65480F"/>
                </a:solidFill>
              </a:rPr>
              <a:t>It does not observe the actual transmission event.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3 — predict before the model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For each mystery genome, write down: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" cy="196596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39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44144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poultry / ruminant / wild bird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8745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039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0752" y="244144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medium / high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874520"/>
            <a:ext cx="64008" cy="196596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039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9672" y="244144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ST, CC, tree, metadata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8745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1874520"/>
            <a:ext cx="64008" cy="1965960"/>
          </a:xfrm>
          <a:prstGeom prst="rect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2039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08592" y="2441448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fool you?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71600" y="4297680"/>
            <a:ext cx="9509760" cy="1115568"/>
          </a:xfrm>
          <a:prstGeom prst="roundRect">
            <a:avLst>
              <a:gd name="adj" fmla="val 6557"/>
            </a:avLst>
          </a:prstGeom>
          <a:solidFill>
            <a:srgbClr val="E6E1F0"/>
          </a:solidFill>
          <a:ln w="12700">
            <a:solidFill>
              <a:srgbClr val="C9BF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4544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93F70"/>
                </a:solidFill>
              </a:rPr>
              <a:t>Then reveal the precomputed SourceRunner-ML output.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91640" y="49560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724"/>
                </a:solidFill>
              </a:rPr>
              <a:t>The interesting question is not “did the model get it right?” — it is “why was it confident or uncertain?”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cases are the biology, not a nuisance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3886200" cy="3886200"/>
          </a:xfrm>
          <a:prstGeom prst="ellipse">
            <a:avLst/>
          </a:prstGeom>
          <a:solidFill>
            <a:srgbClr val="F4E8CC">
              <a:alpha val="72000"/>
            </a:srgbClr>
          </a:solidFill>
          <a:ln w="25400">
            <a:solidFill>
              <a:srgbClr val="C58A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554480"/>
            <a:ext cx="3886200" cy="3886200"/>
          </a:xfrm>
          <a:prstGeom prst="ellipse">
            <a:avLst/>
          </a:prstGeom>
          <a:solidFill>
            <a:srgbClr val="E6E1F0">
              <a:alpha val="72000"/>
            </a:srgbClr>
          </a:solidFill>
          <a:ln w="25400">
            <a:solidFill>
              <a:srgbClr val="665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554480"/>
            <a:ext cx="3886200" cy="3886200"/>
          </a:xfrm>
          <a:prstGeom prst="ellipse">
            <a:avLst/>
          </a:prstGeom>
          <a:solidFill>
            <a:srgbClr val="DCEEEB">
              <a:alpha val="72000"/>
            </a:srgbClr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55312"/>
                </a:solidFill>
              </a:rPr>
              <a:t>POULTRY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173"/>
                </a:solidFill>
              </a:rPr>
              <a:t>WILD BIRDS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694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C55"/>
                </a:solidFill>
              </a:rPr>
              <a:t>RUMINANTS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2971800"/>
            <a:ext cx="1783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5400">
            <a:solidFill>
              <a:srgbClr val="B64C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32278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64C48"/>
                </a:solidFill>
              </a:rPr>
              <a:t>ST45 / CC45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54406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724"/>
                </a:solidFill>
              </a:rPr>
              <a:t>Rapid host switching can erode the genomic signal that source-attribution methods rely on.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supported by Campylobacter generalist-lineage literature and the project’s shared ST45 observations.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makes the same point: lineage + ecology + mobile DNA</a:t>
            </a:r>
            <a:endParaRPr lang="en-US" sz="2700" dirty="0"/>
          </a:p>
        </p:txBody>
      </p:sp>
      <p:pic>
        <p:nvPicPr>
          <p:cNvPr id="4" name="Image 0" descr="/mnt/data/wild-bird-amr-workshop/assets/project_amr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704088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4173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3DDDA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0" y="1417320"/>
            <a:ext cx="64008" cy="1143000"/>
          </a:xfrm>
          <a:prstGeom prst="rect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65592" y="1581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Near-farm signal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65592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resistance determinants: 18.4% near farms vs 10.9% at the non-agricultural site.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283464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4E8CC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0" y="2834640"/>
            <a:ext cx="64008" cy="114300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5592" y="29992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markers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65592" y="34015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shows a farm-proximity association; gyrA_T86I occurs in livestock and near-farm birds.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42519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0" y="425196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65592" y="4416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overclaim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65592" y="4818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can reflect clonal movement, gene movement, shared exposure or sampling.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6272784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7B8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Figure 4 and manuscript results (user-provided materials).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90–110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4 — resistance is a genomic result and an ecological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8191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determinant?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98424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gene/mutation and expected drug class.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64008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58191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background?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198424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concentrated in one lineage or many?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410712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10712"/>
            <a:ext cx="64008" cy="1600200"/>
          </a:xfrm>
          <a:prstGeom prst="rect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753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ecology?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977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farm, livestock, non-agricultural birds?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10712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DCEEEB"/>
          </a:solidFill>
          <a:ln w="12700">
            <a:solidFill>
              <a:srgbClr val="D9DE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10712"/>
            <a:ext cx="64008" cy="1600200"/>
          </a:xfrm>
          <a:prstGeom prst="rect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5753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mechanism?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977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271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Clonal spread, mobile element, repeated selection?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74520" y="5440680"/>
            <a:ext cx="8412480" cy="438912"/>
          </a:xfrm>
          <a:prstGeom prst="roundRect">
            <a:avLst>
              <a:gd name="adj" fmla="val 8333"/>
            </a:avLst>
          </a:prstGeom>
          <a:solidFill>
            <a:srgbClr val="E6E1F0"/>
          </a:solidFill>
          <a:ln w="12700">
            <a:solidFill>
              <a:srgbClr val="C9B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5568696"/>
            <a:ext cx="8001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93F70"/>
                </a:solidFill>
              </a:rPr>
              <a:t>Best extension: long reads + denser temporal/ecological sampling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reveal: four genomes, four different lessons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2487168" cy="42062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572768"/>
            <a:ext cx="749808" cy="749808"/>
          </a:xfrm>
          <a:prstGeom prst="ellipse">
            <a:avLst/>
          </a:prstGeom>
          <a:solidFill>
            <a:srgbClr val="665A93"/>
          </a:solidFill>
          <a:ln w="12700">
            <a:solidFill>
              <a:srgbClr val="665A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17830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Cj_2849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Songthrush • Ottenby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5A93"/>
                </a:solidFill>
              </a:rPr>
              <a:t>ST1347 / CC1347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43159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724"/>
                </a:solidFill>
              </a:rPr>
              <a:t>Wild-bird population contrast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38144" y="1325880"/>
            <a:ext cx="2487168" cy="42062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72768"/>
            <a:ext cx="749808" cy="749808"/>
          </a:xfrm>
          <a:prstGeom prst="ellipse">
            <a:avLst/>
          </a:prstGeom>
          <a:solidFill>
            <a:srgbClr val="B64C48"/>
          </a:solidFill>
          <a:ln w="12700">
            <a:solidFill>
              <a:srgbClr val="B64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7830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9312" y="2578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Cj_10787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299923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Crow • near farm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39312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64C48"/>
                </a:solidFill>
              </a:rPr>
              <a:t>ST45 / CC45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6744" y="43159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724"/>
                </a:solidFill>
              </a:rPr>
              <a:t>Generalist: expect attribution ambiguity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4496" y="1325880"/>
            <a:ext cx="2487168" cy="42062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23176" y="1572768"/>
            <a:ext cx="749808" cy="7498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17830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55664" y="2578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Cj_10726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5664" y="299923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Crow • near farm 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55664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ST686 / CC682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83096" y="43159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724"/>
                </a:solidFill>
              </a:rPr>
              <a:t>Farm proximity ≠ CC45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070848" y="1325880"/>
            <a:ext cx="2487168" cy="42062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9528" y="1572768"/>
            <a:ext cx="749808" cy="749808"/>
          </a:xfrm>
          <a:prstGeom prst="ellipse">
            <a:avLst/>
          </a:prstGeom>
          <a:solidFill>
            <a:srgbClr val="C58A26"/>
          </a:solidFill>
          <a:ln w="12700">
            <a:solidFill>
              <a:srgbClr val="C58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17830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72016" y="2578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724"/>
                </a:solidFill>
              </a:rPr>
              <a:t>Cj_10753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72016" y="299923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Barn swallow • near farm 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72016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8A26"/>
                </a:solidFill>
              </a:rPr>
              <a:t>ST1525 / unassigned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99448" y="43159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724"/>
                </a:solidFill>
              </a:rPr>
              <a:t>Shared ST ≠ demonstrated transfer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43000" y="57424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Ask one group to give the 60-second story for one genome — including the uncertainty.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want people to remember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44168" y="1298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MLST names lineages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44168" y="16824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It does not use the whole genome.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298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5A93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67728" y="1298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Genome comparison adds resolution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67728" y="16824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Relatedness is not transmission direction.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779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8A26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44168" y="27797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Source attribution is conditional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44168" y="31638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It depends on the sampled reference populations.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779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4C48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7728" y="27797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Generalists are informative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67728" y="31638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Uncertainty can be a biological signal.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261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44168" y="4261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AMR needs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44168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Lineage, ecology and mobile DNA all matter.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4261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5A93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67728" y="4261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724"/>
                </a:solidFill>
              </a:rPr>
              <a:t>Metadata are part of genomics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67728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16D"/>
                </a:solidFill>
              </a:rPr>
              <a:t>Bad labels produce bad inference.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51560" y="5596128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02A27"/>
          </a:solidFill>
          <a:ln w="12700">
            <a:solidFill>
              <a:srgbClr val="102A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5724144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 package: participant workbook • instructor key • data templates • backup outputs • optional SourceRunner-ML follow-up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University of Oxford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wild-bird Campylobacter genome to an epidemiological story</dc:title>
  <dc:subject>Wild-bird AMR workshop: PubMLST, population genomics, source attribution and AMR</dc:subject>
  <dc:creator>Ben Pascoe</dc:creator>
  <cp:lastModifiedBy>Ben Pascoe</cp:lastModifiedBy>
  <cp:revision>1</cp:revision>
  <dcterms:created xsi:type="dcterms:W3CDTF">2026-09-14T08:38:38Z</dcterms:created>
  <dcterms:modified xsi:type="dcterms:W3CDTF">2026-09-14T08:38:38Z</dcterms:modified>
</cp:coreProperties>
</file>